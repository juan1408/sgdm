
<file path=[Content_Types].xml><?xml version="1.0" encoding="utf-8"?>
<Types xmlns="http://schemas.openxmlformats.org/package/2006/content-types"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17F558E-62FD-4B67-8C42-0F6C96214DB6}"/>
              </a:ext>
            </a:extLst>
          </p:cNvPr>
          <p:cNvSpPr txBox="1"/>
          <p:nvPr/>
        </p:nvSpPr>
        <p:spPr>
          <a:xfrm>
            <a:off x="762000" y="552450"/>
            <a:ext cx="6096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DEFENSA DE PROYECTO  ·  OCTUBRE 2026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A8C64F1-7C60-49F7-90A9-F7ACA64AAF51}"/>
              </a:ext>
            </a:extLst>
          </p:cNvPr>
          <p:cNvSpPr txBox="1"/>
          <p:nvPr/>
        </p:nvSpPr>
        <p:spPr>
          <a:xfrm>
            <a:off x="723900" y="1009650"/>
            <a:ext cx="6286500" cy="1767840"/>
          </a:xfrm>
        </p:spPr>
        <p:txBody>
          <a:bodyPr wrap="square" rtlCol="0" lIns="0" tIns="0" rIns="0" bIns="0" anchor="t"/>
          <a:lstStyle/>
          <a:p>
            <a:pPr algn="l"/>
            <a:r>
              <a:rPr sz="11600" b="1">
                <a:solidFill>
                  <a:srgbClr val="F2F5F9"/>
                </a:solidFill>
                <a:latin typeface="Segoe UI"/>
                <a:ea typeface="Segoe UI"/>
              </a:rPr>
              <a:t>ASCEND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B3988B0-0AC8-4270-8751-C775F35C6E02}"/>
              </a:ext>
            </a:extLst>
          </p:cNvPr>
          <p:cNvSpPr txBox="1"/>
          <p:nvPr/>
        </p:nvSpPr>
        <p:spPr>
          <a:xfrm>
            <a:off x="762000" y="2781300"/>
            <a:ext cx="60960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>
                <a:solidFill>
                  <a:srgbClr val="C9F04D"/>
                </a:solidFill>
                <a:latin typeface="Segoe UI"/>
                <a:ea typeface="Segoe UI"/>
              </a:rPr>
              <a:t>Gestión de torneos multideportivos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07CE24E-465A-4C98-8F04-698E2035C74F}"/>
              </a:ext>
            </a:extLst>
          </p:cNvPr>
          <p:cNvSpPr txBox="1"/>
          <p:nvPr/>
        </p:nvSpPr>
        <p:spPr>
          <a:xfrm>
            <a:off x="762000" y="3390900"/>
            <a:ext cx="581025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A9B6C8"/>
                </a:solidFill>
                <a:latin typeface="Segoe UI"/>
                <a:ea typeface="Segoe UI"/>
              </a:rPr>
              <a:t>Un sistema PHP/MySQL que se despliega, se opera y se recupera. Cinco materias de la carrera, una sola entrega.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4A2E61C-1091-4842-B91A-088471AE90AB}"/>
              </a:ext>
            </a:extLst>
          </p:cNvPr>
          <p:cNvSpPr/>
          <p:nvPr/>
        </p:nvSpPr>
        <p:spPr>
          <a:xfrm>
            <a:off x="762000" y="4552950"/>
            <a:ext cx="5334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0ADB572-3F69-4D56-B537-A49516C57B63}"/>
              </a:ext>
            </a:extLst>
          </p:cNvPr>
          <p:cNvSpPr txBox="1"/>
          <p:nvPr/>
        </p:nvSpPr>
        <p:spPr>
          <a:xfrm>
            <a:off x="762000" y="47625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Equipo ASCEND · 4 integrantes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125F9D-BD0D-454B-959A-4A21944A8427}"/>
              </a:ext>
            </a:extLst>
          </p:cNvPr>
          <p:cNvSpPr txBox="1"/>
          <p:nvPr/>
        </p:nvSpPr>
        <p:spPr>
          <a:xfrm>
            <a:off x="762000" y="5048250"/>
            <a:ext cx="533400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291A6"/>
                </a:solidFill>
                <a:latin typeface="Segoe UI"/>
                <a:ea typeface="Segoe UI"/>
              </a:rPr>
              <a:t>Ingeniería de software · Full stack · Bases de datos · Ciberseguridad · Sistemas operativos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7FF8BE3-F888-4AA2-A85F-EDF944B9A656}"/>
              </a:ext>
            </a:extLst>
          </p:cNvPr>
          <p:cNvSpPr txBox="1"/>
          <p:nvPr/>
        </p:nvSpPr>
        <p:spPr>
          <a:xfrm>
            <a:off x="762000" y="56197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291A6"/>
                </a:solidFill>
                <a:latin typeface="Segoe UI"/>
                <a:ea typeface="Segoe UI"/>
              </a:rPr>
              <a:t>20 minutos de exposición  +  40 minutos de defensa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B8CE330-039C-4420-81AA-DEB63213674E}"/>
              </a:ext>
            </a:extLst>
          </p:cNvPr>
          <p:cNvSpPr txBox="1"/>
          <p:nvPr/>
        </p:nvSpPr>
        <p:spPr>
          <a:xfrm>
            <a:off x="7239000" y="1028700"/>
            <a:ext cx="857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000" b="1">
                <a:solidFill>
                  <a:srgbClr val="8291A6"/>
                </a:solidFill>
                <a:latin typeface="Segoe UI"/>
                <a:ea typeface="Segoe UI"/>
              </a:rPr>
              <a:t>OCTAVOS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1CEAD8B-8903-4039-9CA8-8821E4A5800C}"/>
              </a:ext>
            </a:extLst>
          </p:cNvPr>
          <p:cNvSpPr txBox="1"/>
          <p:nvPr/>
        </p:nvSpPr>
        <p:spPr>
          <a:xfrm>
            <a:off x="8334375" y="1028700"/>
            <a:ext cx="857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000" b="1">
                <a:solidFill>
                  <a:srgbClr val="8291A6"/>
                </a:solidFill>
                <a:latin typeface="Segoe UI"/>
                <a:ea typeface="Segoe UI"/>
              </a:rPr>
              <a:t>CUARTOS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377643E-1E3A-42E3-A7ED-E68DA436F617}"/>
              </a:ext>
            </a:extLst>
          </p:cNvPr>
          <p:cNvSpPr txBox="1"/>
          <p:nvPr/>
        </p:nvSpPr>
        <p:spPr>
          <a:xfrm>
            <a:off x="9429750" y="1028700"/>
            <a:ext cx="857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000" b="1">
                <a:solidFill>
                  <a:srgbClr val="8291A6"/>
                </a:solidFill>
                <a:latin typeface="Segoe UI"/>
                <a:ea typeface="Segoe UI"/>
              </a:rPr>
              <a:t>SEMIS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6AF7C61-3F93-421D-B985-83DF989BD6C1}"/>
              </a:ext>
            </a:extLst>
          </p:cNvPr>
          <p:cNvSpPr txBox="1"/>
          <p:nvPr/>
        </p:nvSpPr>
        <p:spPr>
          <a:xfrm>
            <a:off x="10525125" y="1028700"/>
            <a:ext cx="85725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000" b="1">
                <a:solidFill>
                  <a:srgbClr val="8291A6"/>
                </a:solidFill>
                <a:latin typeface="Segoe UI"/>
                <a:ea typeface="Segoe UI"/>
              </a:rPr>
              <a:t>FINAL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D0A20D1-C03B-4537-B371-B52DCD573587}"/>
              </a:ext>
            </a:extLst>
          </p:cNvPr>
          <p:cNvSpPr/>
          <p:nvPr/>
        </p:nvSpPr>
        <p:spPr>
          <a:xfrm>
            <a:off x="7239000" y="142875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E1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D6D1292-C1F3-4940-B468-AFF4CAB6A9E7}"/>
              </a:ext>
            </a:extLst>
          </p:cNvPr>
          <p:cNvSpPr/>
          <p:nvPr/>
        </p:nvSpPr>
        <p:spPr>
          <a:xfrm>
            <a:off x="7239000" y="201930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E2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88E51ED3-C7D5-457E-9446-75C6E4647092}"/>
              </a:ext>
            </a:extLst>
          </p:cNvPr>
          <p:cNvSpPr/>
          <p:nvPr/>
        </p:nvSpPr>
        <p:spPr>
          <a:xfrm>
            <a:off x="7239000" y="260985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E3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0726BD0B-F859-4A03-B477-36ABA6D91A5E}"/>
              </a:ext>
            </a:extLst>
          </p:cNvPr>
          <p:cNvSpPr/>
          <p:nvPr/>
        </p:nvSpPr>
        <p:spPr>
          <a:xfrm>
            <a:off x="7239000" y="320040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E4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A1AF1FD-FB53-47FA-92F4-07872F3CE02C}"/>
              </a:ext>
            </a:extLst>
          </p:cNvPr>
          <p:cNvSpPr/>
          <p:nvPr/>
        </p:nvSpPr>
        <p:spPr>
          <a:xfrm>
            <a:off x="7239000" y="379095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E5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AD08D2D-5AF2-4C96-B689-F1F240837703}"/>
              </a:ext>
            </a:extLst>
          </p:cNvPr>
          <p:cNvSpPr/>
          <p:nvPr/>
        </p:nvSpPr>
        <p:spPr>
          <a:xfrm>
            <a:off x="7239000" y="438150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E6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FF67D46D-7ACB-4F36-B549-0F2857059FEA}"/>
              </a:ext>
            </a:extLst>
          </p:cNvPr>
          <p:cNvSpPr/>
          <p:nvPr/>
        </p:nvSpPr>
        <p:spPr>
          <a:xfrm>
            <a:off x="7239000" y="497205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E7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C8C9C76-D290-492B-8C21-B6E0E2703CE9}"/>
              </a:ext>
            </a:extLst>
          </p:cNvPr>
          <p:cNvSpPr/>
          <p:nvPr/>
        </p:nvSpPr>
        <p:spPr>
          <a:xfrm>
            <a:off x="7239000" y="5562600"/>
            <a:ext cx="857250" cy="24765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E8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1B4F7C6-44D9-4CBB-B167-566BE3CC6B9B}"/>
              </a:ext>
            </a:extLst>
          </p:cNvPr>
          <p:cNvSpPr/>
          <p:nvPr/>
        </p:nvSpPr>
        <p:spPr>
          <a:xfrm>
            <a:off x="8334375" y="1724025"/>
            <a:ext cx="857250" cy="247650"/>
          </a:xfrm>
          <a:prstGeom prst="roundRect">
            <a:avLst/>
          </a:prstGeom>
          <a:solidFill>
            <a:srgbClr val="1B2B46"/>
          </a:solidFill>
          <a:ln w="12700">
            <a:solidFill>
              <a:srgbClr val="33476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E1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6F40362B-F651-4951-B191-CBF761E0C1B8}"/>
              </a:ext>
            </a:extLst>
          </p:cNvPr>
          <p:cNvSpPr/>
          <p:nvPr/>
        </p:nvSpPr>
        <p:spPr>
          <a:xfrm>
            <a:off x="8334375" y="2905125"/>
            <a:ext cx="857250" cy="247650"/>
          </a:xfrm>
          <a:prstGeom prst="roundRect">
            <a:avLst/>
          </a:prstGeom>
          <a:solidFill>
            <a:srgbClr val="1B2B46"/>
          </a:solidFill>
          <a:ln w="12700">
            <a:solidFill>
              <a:srgbClr val="33476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E3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42028F7-7570-4844-B7E5-793F91F325B9}"/>
              </a:ext>
            </a:extLst>
          </p:cNvPr>
          <p:cNvSpPr/>
          <p:nvPr/>
        </p:nvSpPr>
        <p:spPr>
          <a:xfrm>
            <a:off x="8334375" y="4086225"/>
            <a:ext cx="857250" cy="247650"/>
          </a:xfrm>
          <a:prstGeom prst="roundRect">
            <a:avLst/>
          </a:prstGeom>
          <a:solidFill>
            <a:srgbClr val="1B2B46"/>
          </a:solidFill>
          <a:ln w="12700">
            <a:solidFill>
              <a:srgbClr val="33476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E5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A72D2D24-90EA-47F5-A2D4-51B61EA9B04F}"/>
              </a:ext>
            </a:extLst>
          </p:cNvPr>
          <p:cNvSpPr/>
          <p:nvPr/>
        </p:nvSpPr>
        <p:spPr>
          <a:xfrm>
            <a:off x="8334375" y="5267325"/>
            <a:ext cx="857250" cy="247650"/>
          </a:xfrm>
          <a:prstGeom prst="roundRect">
            <a:avLst/>
          </a:prstGeom>
          <a:solidFill>
            <a:srgbClr val="1B2B46"/>
          </a:solidFill>
          <a:ln w="12700">
            <a:solidFill>
              <a:srgbClr val="33476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C7D2E0"/>
                </a:solidFill>
                <a:latin typeface="Consolas"/>
                <a:ea typeface="Consolas"/>
              </a:rPr>
              <a:t>E7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42D66DA-1990-43C1-8F00-18857C5FC53F}"/>
              </a:ext>
            </a:extLst>
          </p:cNvPr>
          <p:cNvSpPr/>
          <p:nvPr/>
        </p:nvSpPr>
        <p:spPr>
          <a:xfrm>
            <a:off x="9429750" y="2314575"/>
            <a:ext cx="857250" cy="247650"/>
          </a:xfrm>
          <a:prstGeom prst="roundRect">
            <a:avLst/>
          </a:prstGeom>
          <a:solidFill>
            <a:srgbClr val="22344F"/>
          </a:solidFill>
          <a:ln w="12700">
            <a:solidFill>
              <a:srgbClr val="3D5476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E4EBF4"/>
                </a:solidFill>
                <a:latin typeface="Consolas"/>
                <a:ea typeface="Consolas"/>
              </a:rPr>
              <a:t>E1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11621FC6-3B81-4191-836C-4399A60A9712}"/>
              </a:ext>
            </a:extLst>
          </p:cNvPr>
          <p:cNvSpPr/>
          <p:nvPr/>
        </p:nvSpPr>
        <p:spPr>
          <a:xfrm>
            <a:off x="9429750" y="4676775"/>
            <a:ext cx="857250" cy="247650"/>
          </a:xfrm>
          <a:prstGeom prst="roundRect">
            <a:avLst/>
          </a:prstGeom>
          <a:solidFill>
            <a:srgbClr val="22344F"/>
          </a:solidFill>
          <a:ln w="12700">
            <a:solidFill>
              <a:srgbClr val="3D5476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E4EBF4"/>
                </a:solidFill>
                <a:latin typeface="Consolas"/>
                <a:ea typeface="Consolas"/>
              </a:rPr>
              <a:t>E5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FD950855-8D63-4AB2-BDF8-7958E37236FA}"/>
              </a:ext>
            </a:extLst>
          </p:cNvPr>
          <p:cNvSpPr/>
          <p:nvPr/>
        </p:nvSpPr>
        <p:spPr>
          <a:xfrm>
            <a:off x="10525125" y="3495675"/>
            <a:ext cx="857250" cy="247650"/>
          </a:xfrm>
          <a:prstGeom prst="roundRect">
            <a:avLst/>
          </a:prstGeom>
          <a:solidFill>
            <a:srgbClr val="C9F04D"/>
          </a:solidFill>
        </p:spPr>
        <p:txBody>
          <a:bodyPr wrap="square" rtlCol="0" lIns="0" tIns="0" rIns="0" bIns="0" anchor="ctr"/>
          <a:lstStyle/>
          <a:p>
            <a:pPr algn="ctr"/>
            <a:r>
              <a:rPr sz="900" b="1">
                <a:solidFill>
                  <a:srgbClr val="08101C"/>
                </a:solidFill>
                <a:latin typeface="Segoe UI"/>
                <a:ea typeface="Segoe UI"/>
              </a:rPr>
              <a:t>CAMPEÓN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C4805EB-FD74-4F96-9776-E1555B8D3D43}"/>
              </a:ext>
            </a:extLst>
          </p:cNvPr>
          <p:cNvSpPr txBox="1"/>
          <p:nvPr/>
        </p:nvSpPr>
        <p:spPr>
          <a:xfrm>
            <a:off x="7239000" y="5962650"/>
            <a:ext cx="4143375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8 → 4 → 2 → 1  ·  18 torneos en el 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E585E42-D141-4E32-8C71-E314A4451F95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01  ·  EL PROBLEMA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6965E1-3D09-49AD-A858-AE03279FF792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592260-00A3-4018-9C70-598578C7679E}"/>
              </a:ext>
            </a:extLst>
          </p:cNvPr>
          <p:cNvSpPr txBox="1"/>
          <p:nvPr/>
        </p:nvSpPr>
        <p:spPr>
          <a:xfrm>
            <a:off x="762000" y="819150"/>
            <a:ext cx="106680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2F5F9"/>
                </a:solidFill>
                <a:latin typeface="Segoe UI"/>
                <a:ea typeface="Segoe UI"/>
              </a:rPr>
              <a:t>El problema no es organizar un torneo.</a:t>
            </a:r>
            <a:br/>
            <a:r>
              <a:rPr sz="4000" b="1">
                <a:solidFill>
                  <a:srgbClr val="F2F5F9"/>
                </a:solidFill>
                <a:latin typeface="Segoe UI"/>
                <a:ea typeface="Segoe UI"/>
              </a:rPr>
              <a:t>Es sostenerlo.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4627821-328C-48E4-B01E-B60C8D7C4A48}"/>
              </a:ext>
            </a:extLst>
          </p:cNvPr>
          <p:cNvSpPr/>
          <p:nvPr/>
        </p:nvSpPr>
        <p:spPr>
          <a:xfrm>
            <a:off x="762000" y="2400300"/>
            <a:ext cx="5143500" cy="31432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E833AA6-BA68-41CD-A788-0522B3456486}"/>
              </a:ext>
            </a:extLst>
          </p:cNvPr>
          <p:cNvSpPr/>
          <p:nvPr/>
        </p:nvSpPr>
        <p:spPr>
          <a:xfrm>
            <a:off x="6286500" y="2400300"/>
            <a:ext cx="5143500" cy="31432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6910EEE-E533-44B3-88C6-AE2000099AE3}"/>
              </a:ext>
            </a:extLst>
          </p:cNvPr>
          <p:cNvSpPr txBox="1"/>
          <p:nvPr/>
        </p:nvSpPr>
        <p:spPr>
          <a:xfrm>
            <a:off x="1028700" y="2647950"/>
            <a:ext cx="457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9E64"/>
                </a:solidFill>
                <a:latin typeface="Segoe UI"/>
                <a:ea typeface="Segoe UI"/>
              </a:rPr>
              <a:t>HOY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EB42BF7-D274-4D22-8CF6-2D5B333CF85F}"/>
              </a:ext>
            </a:extLst>
          </p:cNvPr>
          <p:cNvSpPr txBox="1"/>
          <p:nvPr/>
        </p:nvSpPr>
        <p:spPr>
          <a:xfrm>
            <a:off x="6553200" y="2647950"/>
            <a:ext cx="457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CON ASCEND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B685EBB-24D9-4104-9A71-938C7AE896E8}"/>
              </a:ext>
            </a:extLst>
          </p:cNvPr>
          <p:cNvSpPr txBox="1"/>
          <p:nvPr/>
        </p:nvSpPr>
        <p:spPr>
          <a:xfrm>
            <a:off x="1028700" y="2990850"/>
            <a:ext cx="4610100" cy="242925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Inscripciones repartidas entre planillas, chats y correo.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Resultados sin historial ni responsable claro.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Cada despliegue empieza de cero y depende de la memoria del equipo.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La base crece sin datos suficientes para probarla.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6907F39-276A-483C-94A2-72422DCAFD49}"/>
              </a:ext>
            </a:extLst>
          </p:cNvPr>
          <p:cNvSpPr txBox="1"/>
          <p:nvPr/>
        </p:nvSpPr>
        <p:spPr>
          <a:xfrm>
            <a:off x="6553200" y="2990850"/>
            <a:ext cx="4610100" cy="242925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Un catálogo público y un flujo distinto por rol.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Resultados, posiciones e historial en una sola fuente.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Docker y migraciones: el entorno se reconstruye igual.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C7D2E0"/>
                </a:solidFill>
                <a:latin typeface="Segoe UI"/>
                <a:ea typeface="Segoe UI"/>
              </a:rPr>
              <a:t>—  Respaldo, auditoría y replicación previstos desde el inicio.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E567CB7-74CA-41DF-BEEC-9F046B170375}"/>
              </a:ext>
            </a:extLst>
          </p:cNvPr>
          <p:cNvSpPr txBox="1"/>
          <p:nvPr/>
        </p:nvSpPr>
        <p:spPr>
          <a:xfrm>
            <a:off x="762000" y="5734050"/>
            <a:ext cx="10668000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1700" i="1">
                <a:solidFill>
                  <a:srgbClr val="A9B6C8"/>
                </a:solidFill>
                <a:latin typeface="Segoe UI"/>
                <a:ea typeface="Segoe UI"/>
              </a:rPr>
              <a:t>«Un torneo se cae por lo que no está documentado, no por lo que no está programado.»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9AAFA91-1F3C-44DB-8C67-EF0E3E00995F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52E223-1D74-4191-AEDF-899BA8A76439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M1  ·  1:30 – 3:00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81BAD16-8AE8-4838-9D33-1B2C13DC4FA0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3017FE4-037E-4D7B-948D-0912EA43834E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02  ·  USUARIOS Y RECORRIDO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367274-13DC-4F3E-B356-4B1570E2EC0F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0591100-920F-4F22-9401-2C18C3246EE0}"/>
              </a:ext>
            </a:extLst>
          </p:cNvPr>
          <p:cNvSpPr txBox="1"/>
          <p:nvPr/>
        </p:nvSpPr>
        <p:spPr>
          <a:xfrm>
            <a:off x="762000" y="857250"/>
            <a:ext cx="10668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2F5F9"/>
                </a:solidFill>
                <a:latin typeface="Segoe UI"/>
                <a:ea typeface="Segoe UI"/>
              </a:rPr>
              <a:t>Tres roles, un mismo recorrido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284B47-9B6F-4708-B745-54811FA1814E}"/>
              </a:ext>
            </a:extLst>
          </p:cNvPr>
          <p:cNvSpPr txBox="1"/>
          <p:nvPr/>
        </p:nvSpPr>
        <p:spPr>
          <a:xfrm>
            <a:off x="762000" y="1524000"/>
            <a:ext cx="857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El jugador ve una carrera; el organizador ve un torneo; el admin ve el sistema completo.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7994744-1DE4-4A6E-A373-B5AA4CFDA74C}"/>
              </a:ext>
            </a:extLst>
          </p:cNvPr>
          <p:cNvSpPr/>
          <p:nvPr/>
        </p:nvSpPr>
        <p:spPr>
          <a:xfrm>
            <a:off x="1352550" y="3076575"/>
            <a:ext cx="90297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55DC0E9-8D4F-4D9C-B45F-4118A52A94D9}"/>
              </a:ext>
            </a:extLst>
          </p:cNvPr>
          <p:cNvSpPr/>
          <p:nvPr/>
        </p:nvSpPr>
        <p:spPr>
          <a:xfrm>
            <a:off x="1047750" y="2781300"/>
            <a:ext cx="590550" cy="590550"/>
          </a:xfrm>
          <a:prstGeom prst="ellipse">
            <a:avLst/>
          </a:prstGeom>
          <a:solidFill>
            <a:srgbClr val="C9F04D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101C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811180F-11E6-49FC-BD00-F30CAE97DE5D}"/>
              </a:ext>
            </a:extLst>
          </p:cNvPr>
          <p:cNvSpPr/>
          <p:nvPr/>
        </p:nvSpPr>
        <p:spPr>
          <a:xfrm>
            <a:off x="3714750" y="2781300"/>
            <a:ext cx="590550" cy="590550"/>
          </a:xfrm>
          <a:prstGeom prst="ellipse">
            <a:avLst/>
          </a:prstGeom>
          <a:solidFill>
            <a:srgbClr val="C9F04D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101C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66EF10A-0024-4AA2-B4E2-4F6340CA6171}"/>
              </a:ext>
            </a:extLst>
          </p:cNvPr>
          <p:cNvSpPr/>
          <p:nvPr/>
        </p:nvSpPr>
        <p:spPr>
          <a:xfrm>
            <a:off x="6381750" y="2781300"/>
            <a:ext cx="590550" cy="590550"/>
          </a:xfrm>
          <a:prstGeom prst="ellipse">
            <a:avLst/>
          </a:prstGeom>
          <a:solidFill>
            <a:srgbClr val="C9F04D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101C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69413F7-5198-4EB8-8163-040D1E296D2A}"/>
              </a:ext>
            </a:extLst>
          </p:cNvPr>
          <p:cNvSpPr/>
          <p:nvPr/>
        </p:nvSpPr>
        <p:spPr>
          <a:xfrm>
            <a:off x="9048750" y="2781300"/>
            <a:ext cx="590550" cy="590550"/>
          </a:xfrm>
          <a:prstGeom prst="ellipse">
            <a:avLst/>
          </a:prstGeom>
          <a:solidFill>
            <a:srgbClr val="C9F04D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8101C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4A67990-3B96-4C07-8AC1-AD201941CFFD}"/>
              </a:ext>
            </a:extLst>
          </p:cNvPr>
          <p:cNvSpPr txBox="1"/>
          <p:nvPr/>
        </p:nvSpPr>
        <p:spPr>
          <a:xfrm>
            <a:off x="952500" y="3638550"/>
            <a:ext cx="2476500" cy="320040"/>
          </a:xfrm>
        </p:spPr>
        <p:txBody>
          <a:bodyPr wrap="square" rtlCol="0" lIns="0" tIns="0" rIns="0" bIns="0" anchor="t"/>
          <a:lstStyle/>
          <a:p>
            <a:pPr algn="l"/>
            <a:r>
              <a:rPr sz="2100" b="1">
                <a:solidFill>
                  <a:srgbClr val="F2F5F9"/>
                </a:solidFill>
                <a:latin typeface="Segoe UI"/>
                <a:ea typeface="Segoe UI"/>
              </a:rPr>
              <a:t>Descubre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996D08A-DA27-4336-AB55-956DD1A994A9}"/>
              </a:ext>
            </a:extLst>
          </p:cNvPr>
          <p:cNvSpPr txBox="1"/>
          <p:nvPr/>
        </p:nvSpPr>
        <p:spPr>
          <a:xfrm>
            <a:off x="952500" y="4000500"/>
            <a:ext cx="2381250" cy="819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A9B6C8"/>
                </a:solidFill>
                <a:latin typeface="Segoe UI"/>
                <a:ea typeface="Segoe UI"/>
              </a:rPr>
              <a:t>Catálogo, detalle de torneo y rankings sin iniciar sesión.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B037241-2F88-4792-A95A-68A08293E243}"/>
              </a:ext>
            </a:extLst>
          </p:cNvPr>
          <p:cNvSpPr txBox="1"/>
          <p:nvPr/>
        </p:nvSpPr>
        <p:spPr>
          <a:xfrm>
            <a:off x="3619500" y="3638550"/>
            <a:ext cx="2476500" cy="320040"/>
          </a:xfrm>
        </p:spPr>
        <p:txBody>
          <a:bodyPr wrap="square" rtlCol="0" lIns="0" tIns="0" rIns="0" bIns="0" anchor="t"/>
          <a:lstStyle/>
          <a:p>
            <a:pPr algn="l"/>
            <a:r>
              <a:rPr sz="2100" b="1">
                <a:solidFill>
                  <a:srgbClr val="F2F5F9"/>
                </a:solidFill>
                <a:latin typeface="Segoe UI"/>
                <a:ea typeface="Segoe UI"/>
              </a:rPr>
              <a:t>Se inscribe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EA9A1D2-4685-47AA-A464-727FAC20263C}"/>
              </a:ext>
            </a:extLst>
          </p:cNvPr>
          <p:cNvSpPr txBox="1"/>
          <p:nvPr/>
        </p:nvSpPr>
        <p:spPr>
          <a:xfrm>
            <a:off x="3619500" y="4000500"/>
            <a:ext cx="238125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A9B6C8"/>
                </a:solidFill>
                <a:latin typeface="Segoe UI"/>
                <a:ea typeface="Segoe UI"/>
              </a:rPr>
              <a:t>Crea o solicita equipo; el organizador aprueba la inscripción.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C0943FF-3FA1-47A2-BB0B-6C083A787FE1}"/>
              </a:ext>
            </a:extLst>
          </p:cNvPr>
          <p:cNvSpPr txBox="1"/>
          <p:nvPr/>
        </p:nvSpPr>
        <p:spPr>
          <a:xfrm>
            <a:off x="6286500" y="3638550"/>
            <a:ext cx="2476500" cy="320040"/>
          </a:xfrm>
        </p:spPr>
        <p:txBody>
          <a:bodyPr wrap="square" rtlCol="0" lIns="0" tIns="0" rIns="0" bIns="0" anchor="t"/>
          <a:lstStyle/>
          <a:p>
            <a:pPr algn="l"/>
            <a:r>
              <a:rPr sz="2100" b="1">
                <a:solidFill>
                  <a:srgbClr val="F2F5F9"/>
                </a:solidFill>
                <a:latin typeface="Segoe UI"/>
                <a:ea typeface="Segoe UI"/>
              </a:rPr>
              <a:t>Compite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ED279E1-6B1E-4C20-B965-4EEBCF745F98}"/>
              </a:ext>
            </a:extLst>
          </p:cNvPr>
          <p:cNvSpPr txBox="1"/>
          <p:nvPr/>
        </p:nvSpPr>
        <p:spPr>
          <a:xfrm>
            <a:off x="6286500" y="4000500"/>
            <a:ext cx="238125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A9B6C8"/>
                </a:solidFill>
                <a:latin typeface="Segoe UI"/>
                <a:ea typeface="Segoe UI"/>
              </a:rPr>
              <a:t>Fixtures, resultados y posiciones actualizados por el organizador.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90467A0-A86A-49F5-91F2-BEF25CA8EF8E}"/>
              </a:ext>
            </a:extLst>
          </p:cNvPr>
          <p:cNvSpPr txBox="1"/>
          <p:nvPr/>
        </p:nvSpPr>
        <p:spPr>
          <a:xfrm>
            <a:off x="8953500" y="3638550"/>
            <a:ext cx="2476500" cy="320040"/>
          </a:xfrm>
        </p:spPr>
        <p:txBody>
          <a:bodyPr wrap="square" rtlCol="0" lIns="0" tIns="0" rIns="0" bIns="0" anchor="t"/>
          <a:lstStyle/>
          <a:p>
            <a:pPr algn="l"/>
            <a:r>
              <a:rPr sz="2100" b="1">
                <a:solidFill>
                  <a:srgbClr val="F2F5F9"/>
                </a:solidFill>
                <a:latin typeface="Segoe UI"/>
                <a:ea typeface="Segoe UI"/>
              </a:rPr>
              <a:t>Consulta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4EADA7B-B9B5-47AE-9D77-C30E79BCBCEE}"/>
              </a:ext>
            </a:extLst>
          </p:cNvPr>
          <p:cNvSpPr txBox="1"/>
          <p:nvPr/>
        </p:nvSpPr>
        <p:spPr>
          <a:xfrm>
            <a:off x="8953500" y="4000500"/>
            <a:ext cx="2381250" cy="819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A9B6C8"/>
                </a:solidFill>
                <a:latin typeface="Segoe UI"/>
                <a:ea typeface="Segoe UI"/>
              </a:rPr>
              <a:t>Historial, podios y perfil público con trazabilidad.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B59E11C-B71F-42E9-81E9-411A4E93F5FC}"/>
              </a:ext>
            </a:extLst>
          </p:cNvPr>
          <p:cNvSpPr/>
          <p:nvPr/>
        </p:nvSpPr>
        <p:spPr>
          <a:xfrm>
            <a:off x="762000" y="5105400"/>
            <a:ext cx="10668000" cy="8191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4F6B91C-F4BC-40BC-AC12-1024CE25FDBA}"/>
              </a:ext>
            </a:extLst>
          </p:cNvPr>
          <p:cNvSpPr txBox="1"/>
          <p:nvPr/>
        </p:nvSpPr>
        <p:spPr>
          <a:xfrm>
            <a:off x="990600" y="5257800"/>
            <a:ext cx="3238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JUGADOR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5AAB271-8761-4CCC-8D19-56E7ED15F642}"/>
              </a:ext>
            </a:extLst>
          </p:cNvPr>
          <p:cNvSpPr txBox="1"/>
          <p:nvPr/>
        </p:nvSpPr>
        <p:spPr>
          <a:xfrm>
            <a:off x="990600" y="5505450"/>
            <a:ext cx="32385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Participa, sigue su historial y gestiona su equipo.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36B2EDA-7109-491E-9199-67F2B9964162}"/>
              </a:ext>
            </a:extLst>
          </p:cNvPr>
          <p:cNvSpPr txBox="1"/>
          <p:nvPr/>
        </p:nvSpPr>
        <p:spPr>
          <a:xfrm>
            <a:off x="4667250" y="5257800"/>
            <a:ext cx="3238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ORGANIZADOR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2C1DA2E-2CB3-4F38-9039-26FF39EFA436}"/>
              </a:ext>
            </a:extLst>
          </p:cNvPr>
          <p:cNvSpPr txBox="1"/>
          <p:nvPr/>
        </p:nvSpPr>
        <p:spPr>
          <a:xfrm>
            <a:off x="4667250" y="5505450"/>
            <a:ext cx="32385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Crea torneos, publica resultados y habilita inscripciones.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8B644AE-FACA-4EE0-BCD1-AF2087BE92A2}"/>
              </a:ext>
            </a:extLst>
          </p:cNvPr>
          <p:cNvSpPr txBox="1"/>
          <p:nvPr/>
        </p:nvSpPr>
        <p:spPr>
          <a:xfrm>
            <a:off x="8286750" y="5257800"/>
            <a:ext cx="29527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ADMIN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20CEE8D-D249-4383-865F-9E093E224794}"/>
              </a:ext>
            </a:extLst>
          </p:cNvPr>
          <p:cNvSpPr txBox="1"/>
          <p:nvPr/>
        </p:nvSpPr>
        <p:spPr>
          <a:xfrm>
            <a:off x="8286750" y="5505450"/>
            <a:ext cx="295275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Gobierna usuarios, catálogos y auditoría.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C6164B9-CCF0-4E30-B8BC-EB5A636C522C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69EF66A-92D2-4262-93BC-A40BC79EC239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M1  ·  3:00 – 4:30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CEDB478-C818-4B50-8380-6793D9667FA4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F4EA466-EF8C-404C-9DFD-518A75A67BB2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03  ·  DEMO EN VIVO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59027E-E555-4C4C-9EF3-0F8F21138843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AC350CC-FDC9-44E5-92B3-BD28779C8EE7}"/>
              </a:ext>
            </a:extLst>
          </p:cNvPr>
          <p:cNvSpPr txBox="1"/>
          <p:nvPr/>
        </p:nvSpPr>
        <p:spPr>
          <a:xfrm>
            <a:off x="762000" y="819150"/>
            <a:ext cx="10668000" cy="1280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2F5F9"/>
                </a:solidFill>
                <a:latin typeface="Segoe UI"/>
                <a:ea typeface="Segoe UI"/>
              </a:rPr>
              <a:t>La demo cuenta la historia</a:t>
            </a:r>
            <a:br/>
            <a:r>
              <a:rPr sz="4000" b="1">
                <a:solidFill>
                  <a:srgbClr val="F2F5F9"/>
                </a:solidFill>
                <a:latin typeface="Segoe UI"/>
                <a:ea typeface="Segoe UI"/>
              </a:rPr>
              <a:t>mejor que el diagrama.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87A275-C96E-4299-90A7-E9DCAFD8D326}"/>
              </a:ext>
            </a:extLst>
          </p:cNvPr>
          <p:cNvSpPr txBox="1"/>
          <p:nvPr/>
        </p:nvSpPr>
        <p:spPr>
          <a:xfrm>
            <a:off x="742950" y="2133600"/>
            <a:ext cx="2857500" cy="1981200"/>
          </a:xfrm>
        </p:spPr>
        <p:txBody>
          <a:bodyPr wrap="square" rtlCol="0" lIns="0" tIns="0" rIns="0" bIns="0" anchor="t"/>
          <a:lstStyle/>
          <a:p>
            <a:pPr algn="l"/>
            <a:r>
              <a:rPr sz="13000" b="1">
                <a:solidFill>
                  <a:srgbClr val="C9F04D"/>
                </a:solidFill>
                <a:latin typeface="Segoe UI"/>
                <a:ea typeface="Segoe UI"/>
              </a:rPr>
              <a:t>90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9BDB653-B8B1-489B-AAA2-0854631F407C}"/>
              </a:ext>
            </a:extLst>
          </p:cNvPr>
          <p:cNvSpPr txBox="1"/>
          <p:nvPr/>
        </p:nvSpPr>
        <p:spPr>
          <a:xfrm>
            <a:off x="800100" y="4191000"/>
            <a:ext cx="2667000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2F5F9"/>
                </a:solidFill>
                <a:latin typeface="Segoe UI"/>
                <a:ea typeface="Segoe UI"/>
              </a:rPr>
              <a:t>segundos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CB6BFB5-ABC0-4FE8-8DDB-0887D604C86C}"/>
              </a:ext>
            </a:extLst>
          </p:cNvPr>
          <p:cNvSpPr txBox="1"/>
          <p:nvPr/>
        </p:nvSpPr>
        <p:spPr>
          <a:xfrm>
            <a:off x="800100" y="4667250"/>
            <a:ext cx="285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3 pantallas · 1 recorrido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E0562B9-6433-4DF9-8B06-3CC19DA67C55}"/>
              </a:ext>
            </a:extLst>
          </p:cNvPr>
          <p:cNvSpPr/>
          <p:nvPr/>
        </p:nvSpPr>
        <p:spPr>
          <a:xfrm>
            <a:off x="4095750" y="2286000"/>
            <a:ext cx="9525" cy="2571750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F2F639-A6C7-40B5-A8DE-A13BF1677FAB}"/>
              </a:ext>
            </a:extLst>
          </p:cNvPr>
          <p:cNvSpPr txBox="1"/>
          <p:nvPr/>
        </p:nvSpPr>
        <p:spPr>
          <a:xfrm>
            <a:off x="4572000" y="2228850"/>
            <a:ext cx="6858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00 – 30 s  ·  PÚBLICO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9B04859-B8D5-457E-AAA9-BCF387F9C7DC}"/>
              </a:ext>
            </a:extLst>
          </p:cNvPr>
          <p:cNvSpPr txBox="1"/>
          <p:nvPr/>
        </p:nvSpPr>
        <p:spPr>
          <a:xfrm>
            <a:off x="4572000" y="2457450"/>
            <a:ext cx="685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Catálogo, torneo 1217 y ranking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0C6082D-1607-4CDA-B90C-9162F2DD9D9B}"/>
              </a:ext>
            </a:extLst>
          </p:cNvPr>
          <p:cNvSpPr txBox="1"/>
          <p:nvPr/>
        </p:nvSpPr>
        <p:spPr>
          <a:xfrm>
            <a:off x="4572000" y="27622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Datos reales, no maquetas: el seed sostiene la demo.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8076B80-9334-47E5-9F7B-38249AC4697F}"/>
              </a:ext>
            </a:extLst>
          </p:cNvPr>
          <p:cNvSpPr txBox="1"/>
          <p:nvPr/>
        </p:nvSpPr>
        <p:spPr>
          <a:xfrm>
            <a:off x="4572000" y="3181350"/>
            <a:ext cx="6858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30 – 60 s  ·  JUGADOR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E4E2C01-4256-49C0-A910-651071A13EBD}"/>
              </a:ext>
            </a:extLst>
          </p:cNvPr>
          <p:cNvSpPr txBox="1"/>
          <p:nvPr/>
        </p:nvSpPr>
        <p:spPr>
          <a:xfrm>
            <a:off x="4572000" y="3409950"/>
            <a:ext cx="685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Equipo, solicitud e inscripción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B1C9008-B381-493B-BC09-53C05A652D03}"/>
              </a:ext>
            </a:extLst>
          </p:cNvPr>
          <p:cNvSpPr txBox="1"/>
          <p:nvPr/>
        </p:nvSpPr>
        <p:spPr>
          <a:xfrm>
            <a:off x="4572000" y="37147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Cada rol ve solo lo suyo: permisos antes que pantallas.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1010E7C-A16E-43BA-B4D6-DB2F8BC49B7C}"/>
              </a:ext>
            </a:extLst>
          </p:cNvPr>
          <p:cNvSpPr txBox="1"/>
          <p:nvPr/>
        </p:nvSpPr>
        <p:spPr>
          <a:xfrm>
            <a:off x="4572000" y="4133850"/>
            <a:ext cx="6858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60 – 90 s  ·  ORGANIZADOR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09D872D-E772-4BD7-BE79-1C20C1F24817}"/>
              </a:ext>
            </a:extLst>
          </p:cNvPr>
          <p:cNvSpPr txBox="1"/>
          <p:nvPr/>
        </p:nvSpPr>
        <p:spPr>
          <a:xfrm>
            <a:off x="4572000" y="4362450"/>
            <a:ext cx="685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Resultado publicado, posición actualizada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3D8F490-CB3A-4A37-BA24-D1BD693CD133}"/>
              </a:ext>
            </a:extLst>
          </p:cNvPr>
          <p:cNvSpPr txBox="1"/>
          <p:nvPr/>
        </p:nvSpPr>
        <p:spPr>
          <a:xfrm>
            <a:off x="4572000" y="46672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Se cierra el ciclo: del formulario al ranking público.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1FC10E9-6C05-4F18-8F14-C3A5B3E0E954}"/>
              </a:ext>
            </a:extLst>
          </p:cNvPr>
          <p:cNvSpPr/>
          <p:nvPr/>
        </p:nvSpPr>
        <p:spPr>
          <a:xfrm>
            <a:off x="762000" y="5295900"/>
            <a:ext cx="10668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2DA7212-27BC-45CC-A8B0-055AE3D4CD74}"/>
              </a:ext>
            </a:extLst>
          </p:cNvPr>
          <p:cNvSpPr txBox="1"/>
          <p:nvPr/>
        </p:nvSpPr>
        <p:spPr>
          <a:xfrm>
            <a:off x="990600" y="5410200"/>
            <a:ext cx="9144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9E64"/>
                </a:solidFill>
                <a:latin typeface="Segoe UI"/>
                <a:ea typeface="Segoe UI"/>
              </a:rPr>
              <a:t>PLAN B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F450945-8761-40A1-9548-0F2CE91AC392}"/>
              </a:ext>
            </a:extLst>
          </p:cNvPr>
          <p:cNvSpPr txBox="1"/>
          <p:nvPr/>
        </p:nvSpPr>
        <p:spPr>
          <a:xfrm>
            <a:off x="2019300" y="5391150"/>
            <a:ext cx="91821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C7D2E0"/>
                </a:solidFill>
                <a:latin typeface="Segoe UI"/>
                <a:ea typeface="Segoe UI"/>
              </a:rPr>
              <a:t>Video de 90 s y capturas ya grabados. Si falla la red, la historia no se cae. Nunca mostrar credenciales en pantalla.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9B0D5A8-6EBF-46AF-AEC0-59F0237E8557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93FBF13-E562-4C0F-AF9F-D3D338257E1E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M2  ·  4:30 – 6:00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F54EC1B-2D48-4632-B5B6-D50D9C9E07DD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0599F21-8666-4A32-9DE1-CDC8B4CB3719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04  ·  ALCANCE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F6EB6D-F5A1-4DA1-A1D3-13C83F6422B8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7124EA-A04A-415D-B0CF-F0143D51DEF0}"/>
              </a:ext>
            </a:extLst>
          </p:cNvPr>
          <p:cNvSpPr txBox="1"/>
          <p:nvPr/>
        </p:nvSpPr>
        <p:spPr>
          <a:xfrm>
            <a:off x="762000" y="838200"/>
            <a:ext cx="10668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2F5F9"/>
                </a:solidFill>
                <a:latin typeface="Segoe UI"/>
                <a:ea typeface="Segoe UI"/>
              </a:rPr>
              <a:t>Qué está construido — y qué no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3C77AFF-D588-4553-A94C-E737C5F13A15}"/>
              </a:ext>
            </a:extLst>
          </p:cNvPr>
          <p:cNvSpPr txBox="1"/>
          <p:nvPr/>
        </p:nvSpPr>
        <p:spPr>
          <a:xfrm>
            <a:off x="762000" y="1447800"/>
            <a:ext cx="952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Un alcance acotado, probado y declarado. No prometemos más de lo que la entrega sostiene.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CE4BF68-480A-4940-8846-876DE55C07FC}"/>
              </a:ext>
            </a:extLst>
          </p:cNvPr>
          <p:cNvSpPr/>
          <p:nvPr/>
        </p:nvSpPr>
        <p:spPr>
          <a:xfrm>
            <a:off x="762000" y="1905000"/>
            <a:ext cx="3429000" cy="29527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590F917-28FD-482B-B674-8E15E39EF51E}"/>
              </a:ext>
            </a:extLst>
          </p:cNvPr>
          <p:cNvSpPr/>
          <p:nvPr/>
        </p:nvSpPr>
        <p:spPr>
          <a:xfrm>
            <a:off x="4381500" y="1905000"/>
            <a:ext cx="3429000" cy="29527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2C3846F-2183-4197-8EFF-BE4AAA758F27}"/>
              </a:ext>
            </a:extLst>
          </p:cNvPr>
          <p:cNvSpPr/>
          <p:nvPr/>
        </p:nvSpPr>
        <p:spPr>
          <a:xfrm>
            <a:off x="8001000" y="1905000"/>
            <a:ext cx="3429000" cy="29527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216DCD5-F094-44DC-AA45-AFB617BCD97B}"/>
              </a:ext>
            </a:extLst>
          </p:cNvPr>
          <p:cNvSpPr txBox="1"/>
          <p:nvPr/>
        </p:nvSpPr>
        <p:spPr>
          <a:xfrm>
            <a:off x="990600" y="2095500"/>
            <a:ext cx="2971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PÚBLICO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4AAEA83-3147-4B34-88BE-3ACC94E65450}"/>
              </a:ext>
            </a:extLst>
          </p:cNvPr>
          <p:cNvSpPr txBox="1"/>
          <p:nvPr/>
        </p:nvSpPr>
        <p:spPr>
          <a:xfrm>
            <a:off x="990600" y="2343150"/>
            <a:ext cx="29718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2F5F9"/>
                </a:solidFill>
                <a:latin typeface="Segoe UI"/>
                <a:ea typeface="Segoe UI"/>
              </a:rPr>
              <a:t>Sin cuenta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B622A12-FA78-4064-B111-712DA21DBB7F}"/>
              </a:ext>
            </a:extLst>
          </p:cNvPr>
          <p:cNvSpPr txBox="1"/>
          <p:nvPr/>
        </p:nvSpPr>
        <p:spPr>
          <a:xfrm>
            <a:off x="990600" y="2781300"/>
            <a:ext cx="2971800" cy="1943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Catálogo y detalle de torneos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Rankings por disciplina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Perfiles públicos de jugador y organizador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Búsqueda y filtros por formato y estado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A61CD9F-E31D-47FB-AD3F-9DEB2BC0E9EB}"/>
              </a:ext>
            </a:extLst>
          </p:cNvPr>
          <p:cNvSpPr txBox="1"/>
          <p:nvPr/>
        </p:nvSpPr>
        <p:spPr>
          <a:xfrm>
            <a:off x="4610100" y="2095500"/>
            <a:ext cx="2971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JUGADOR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8782320-0DFE-4D5C-84BB-0393923D170F}"/>
              </a:ext>
            </a:extLst>
          </p:cNvPr>
          <p:cNvSpPr txBox="1"/>
          <p:nvPr/>
        </p:nvSpPr>
        <p:spPr>
          <a:xfrm>
            <a:off x="4610100" y="2343150"/>
            <a:ext cx="29718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2F5F9"/>
                </a:solidFill>
                <a:latin typeface="Segoe UI"/>
                <a:ea typeface="Segoe UI"/>
              </a:rPr>
              <a:t>Compite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62004E2-53C1-43DB-BF01-C86BDE2A228F}"/>
              </a:ext>
            </a:extLst>
          </p:cNvPr>
          <p:cNvSpPr txBox="1"/>
          <p:nvPr/>
        </p:nvSpPr>
        <p:spPr>
          <a:xfrm>
            <a:off x="4610100" y="2781300"/>
            <a:ext cx="2971800" cy="1943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Equipos, solicitudes y gestión de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plantilla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Inscripciones y torneos guardados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Historial, podios y notificaciones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Perfil editable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FFC2550-247F-43B4-97E4-ECF7D04516C3}"/>
              </a:ext>
            </a:extLst>
          </p:cNvPr>
          <p:cNvSpPr txBox="1"/>
          <p:nvPr/>
        </p:nvSpPr>
        <p:spPr>
          <a:xfrm>
            <a:off x="8229600" y="2095500"/>
            <a:ext cx="2971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ORGANIZACIÓN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BD024B-6779-47E7-A312-8253CAC7F621}"/>
              </a:ext>
            </a:extLst>
          </p:cNvPr>
          <p:cNvSpPr txBox="1"/>
          <p:nvPr/>
        </p:nvSpPr>
        <p:spPr>
          <a:xfrm>
            <a:off x="8229600" y="2343150"/>
            <a:ext cx="29718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2F5F9"/>
                </a:solidFill>
                <a:latin typeface="Segoe UI"/>
                <a:ea typeface="Segoe UI"/>
              </a:rPr>
              <a:t>Opera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0CEAB27-1DA8-4764-9B9B-72C7FF71F1EB}"/>
              </a:ext>
            </a:extLst>
          </p:cNvPr>
          <p:cNvSpPr txBox="1"/>
          <p:nvPr/>
        </p:nvSpPr>
        <p:spPr>
          <a:xfrm>
            <a:off x="8229600" y="2781300"/>
            <a:ext cx="2971800" cy="1943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Torneos, formatos y fixtures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Resultados, posiciones y podios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Usuarios, juegos, modalidades y alertas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Auditoría, errores y políticas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70FC172-12D9-4761-B2CC-476D5FCAE254}"/>
              </a:ext>
            </a:extLst>
          </p:cNvPr>
          <p:cNvSpPr txBox="1"/>
          <p:nvPr/>
        </p:nvSpPr>
        <p:spPr>
          <a:xfrm>
            <a:off x="762000" y="508635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9E64"/>
                </a:solidFill>
                <a:latin typeface="Segoe UI"/>
                <a:ea typeface="Segoe UI"/>
              </a:rPr>
              <a:t>FUERA DE ALCANCE, DECLARADO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2403FDD2-62C6-410A-AFE8-22351F200EB0}"/>
              </a:ext>
            </a:extLst>
          </p:cNvPr>
          <p:cNvSpPr/>
          <p:nvPr/>
        </p:nvSpPr>
        <p:spPr>
          <a:xfrm>
            <a:off x="762000" y="5372100"/>
            <a:ext cx="2762250" cy="3429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Recuperación de contraseña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3CF4F98E-6DE5-4531-A95D-4BFA22AA3B24}"/>
              </a:ext>
            </a:extLst>
          </p:cNvPr>
          <p:cNvSpPr/>
          <p:nvPr/>
        </p:nvSpPr>
        <p:spPr>
          <a:xfrm>
            <a:off x="3714750" y="5372100"/>
            <a:ext cx="2762250" cy="3429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Bye en sistema suizo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A5E3106-3A21-4986-99A6-3DB0EE4C4BFE}"/>
              </a:ext>
            </a:extLst>
          </p:cNvPr>
          <p:cNvSpPr/>
          <p:nvPr/>
        </p:nvSpPr>
        <p:spPr>
          <a:xfrm>
            <a:off x="6667500" y="5372100"/>
            <a:ext cx="2762250" cy="3429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Email real y recuperación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D31263C-72B1-4CB1-ADC1-320534A26E0E}"/>
              </a:ext>
            </a:extLst>
          </p:cNvPr>
          <p:cNvSpPr txBox="1"/>
          <p:nvPr/>
        </p:nvSpPr>
        <p:spPr>
          <a:xfrm>
            <a:off x="762000" y="5848350"/>
            <a:ext cx="952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291A6"/>
                </a:solidFill>
                <a:latin typeface="Segoe UI"/>
                <a:ea typeface="Segoe UI"/>
              </a:rPr>
              <a:t>Preferimos declararlo antes de que lo pregunten: está documentado en el README y en la matriz de requisitos.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9C39994C-5AE7-4DF8-9F6D-1D8AA8E67B6E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45DE3D5-5059-4B3C-BC15-4A88A9E6AA24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M1  ·  6:00 – 7:30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34896F4-D381-45D6-904F-4615FBEAE872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89E1DD6-BA49-4DF5-8D3F-645297C3901B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05  ·  ARQUITECTURA FULL STACK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14A25EF-3B13-477B-A599-7DA28D69433B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7F405C0-7A45-4C66-90BF-9CB4FC2EEF0D}"/>
              </a:ext>
            </a:extLst>
          </p:cNvPr>
          <p:cNvSpPr txBox="1"/>
          <p:nvPr/>
        </p:nvSpPr>
        <p:spPr>
          <a:xfrm>
            <a:off x="762000" y="838200"/>
            <a:ext cx="10668000" cy="579120"/>
          </a:xfrm>
        </p:spPr>
        <p:txBody>
          <a:bodyPr wrap="square" rtlCol="0" lIns="0" tIns="0" rIns="0" bIns="0" anchor="t"/>
          <a:lstStyle/>
          <a:p>
            <a:pPr algn="l"/>
            <a:r>
              <a:rPr sz="3800" b="1">
                <a:solidFill>
                  <a:srgbClr val="F2F5F9"/>
                </a:solidFill>
                <a:latin typeface="Segoe UI"/>
                <a:ea typeface="Segoe UI"/>
              </a:rPr>
              <a:t>MVC sin framework: el flujo es el diseño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6FED81-96E4-4DCA-8E82-B6311554D780}"/>
              </a:ext>
            </a:extLst>
          </p:cNvPr>
          <p:cNvSpPr txBox="1"/>
          <p:nvPr/>
        </p:nvSpPr>
        <p:spPr>
          <a:xfrm>
            <a:off x="762000" y="1428750"/>
            <a:ext cx="1047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Un solo punto de entrada. Ningún controlador habla SQL directamente.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15CF1EC-62BA-4FC0-8895-51CD8E88F8DC}"/>
              </a:ext>
            </a:extLst>
          </p:cNvPr>
          <p:cNvSpPr/>
          <p:nvPr/>
        </p:nvSpPr>
        <p:spPr>
          <a:xfrm>
            <a:off x="762000" y="2571750"/>
            <a:ext cx="1428750" cy="8001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2F5F9"/>
                </a:solidFill>
                <a:latin typeface="Segoe UI"/>
                <a:ea typeface="Segoe UI"/>
              </a:rPr>
              <a:t>Navegador</a:t>
            </a:r>
          </a:p>
          <a:p>
            <a:pPr algn="ctr"/>
            <a:r>
              <a:rPr sz="1000">
                <a:solidFill>
                  <a:srgbClr val="8291A6"/>
                </a:solidFill>
                <a:latin typeface="Segoe UI"/>
                <a:ea typeface="Segoe UI"/>
              </a:rPr>
              <a:t>HTML / CSS / JS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07941B3-F33D-48BD-91FB-E5E6F3DF96D2}"/>
              </a:ext>
            </a:extLst>
          </p:cNvPr>
          <p:cNvSpPr/>
          <p:nvPr/>
        </p:nvSpPr>
        <p:spPr>
          <a:xfrm>
            <a:off x="2228850" y="2838450"/>
            <a:ext cx="266700" cy="266700"/>
          </a:xfrm>
          <a:prstGeom prst="rightArrow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14BCFBE-6B3A-4E92-905A-4151C56C4C2D}"/>
              </a:ext>
            </a:extLst>
          </p:cNvPr>
          <p:cNvSpPr/>
          <p:nvPr/>
        </p:nvSpPr>
        <p:spPr>
          <a:xfrm>
            <a:off x="2571750" y="2571750"/>
            <a:ext cx="1905000" cy="8001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2F5F9"/>
                </a:solidFill>
                <a:latin typeface="Segoe UI"/>
                <a:ea typeface="Segoe UI"/>
              </a:rPr>
              <a:t>Front controller</a:t>
            </a:r>
          </a:p>
          <a:p>
            <a:pPr algn="ctr"/>
            <a:r>
              <a:rPr sz="1000">
                <a:solidFill>
                  <a:srgbClr val="C9F04D"/>
                </a:solidFill>
                <a:latin typeface="Consolas"/>
                <a:ea typeface="Consolas"/>
              </a:rPr>
              <a:t>publico/index.php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AFDFF8F-DB11-4CE8-BF45-94469F7A85D9}"/>
              </a:ext>
            </a:extLst>
          </p:cNvPr>
          <p:cNvSpPr/>
          <p:nvPr/>
        </p:nvSpPr>
        <p:spPr>
          <a:xfrm>
            <a:off x="4514850" y="2838450"/>
            <a:ext cx="266700" cy="266700"/>
          </a:xfrm>
          <a:prstGeom prst="rightArrow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82494A0-DD93-4105-8A21-61FBCC202AB5}"/>
              </a:ext>
            </a:extLst>
          </p:cNvPr>
          <p:cNvSpPr/>
          <p:nvPr/>
        </p:nvSpPr>
        <p:spPr>
          <a:xfrm>
            <a:off x="4857750" y="2571750"/>
            <a:ext cx="1428750" cy="8001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2F5F9"/>
                </a:solidFill>
                <a:latin typeface="Segoe UI"/>
                <a:ea typeface="Segoe UI"/>
              </a:rPr>
              <a:t>Router</a:t>
            </a:r>
          </a:p>
          <a:p>
            <a:pPr algn="ctr"/>
            <a:r>
              <a:rPr sz="1000">
                <a:solidFill>
                  <a:srgbClr val="C9F04D"/>
                </a:solidFill>
                <a:latin typeface="Consolas"/>
                <a:ea typeface="Consolas"/>
              </a:rPr>
              <a:t>?c= &amp; a=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E5D154B-4AF9-4D64-A8F8-BD42A4316845}"/>
              </a:ext>
            </a:extLst>
          </p:cNvPr>
          <p:cNvSpPr/>
          <p:nvPr/>
        </p:nvSpPr>
        <p:spPr>
          <a:xfrm>
            <a:off x="6324600" y="2838450"/>
            <a:ext cx="266700" cy="266700"/>
          </a:xfrm>
          <a:prstGeom prst="rightArrow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EFBB51D-31F7-450A-94C9-4598AD4F89A6}"/>
              </a:ext>
            </a:extLst>
          </p:cNvPr>
          <p:cNvSpPr/>
          <p:nvPr/>
        </p:nvSpPr>
        <p:spPr>
          <a:xfrm>
            <a:off x="6667500" y="2571750"/>
            <a:ext cx="1714500" cy="8001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2F5F9"/>
                </a:solidFill>
                <a:latin typeface="Segoe UI"/>
                <a:ea typeface="Segoe UI"/>
              </a:rPr>
              <a:t>Controlador</a:t>
            </a:r>
          </a:p>
          <a:p>
            <a:pPr algn="ctr"/>
            <a:r>
              <a:rPr sz="1000">
                <a:solidFill>
                  <a:srgbClr val="8291A6"/>
                </a:solidFill>
                <a:latin typeface="Segoe UI"/>
                <a:ea typeface="Segoe UI"/>
              </a:rPr>
              <a:t>rol + acción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ED6FB64-36FA-4FC2-A0CE-5FC3D8832CAA}"/>
              </a:ext>
            </a:extLst>
          </p:cNvPr>
          <p:cNvSpPr/>
          <p:nvPr/>
        </p:nvSpPr>
        <p:spPr>
          <a:xfrm>
            <a:off x="8420100" y="2838450"/>
            <a:ext cx="266700" cy="266700"/>
          </a:xfrm>
          <a:prstGeom prst="rightArrow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33EE54A-21D2-49F1-9E47-3D03278A71E5}"/>
              </a:ext>
            </a:extLst>
          </p:cNvPr>
          <p:cNvSpPr/>
          <p:nvPr/>
        </p:nvSpPr>
        <p:spPr>
          <a:xfrm>
            <a:off x="8763000" y="2571750"/>
            <a:ext cx="1524000" cy="800100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2F5F9"/>
                </a:solidFill>
                <a:latin typeface="Segoe UI"/>
                <a:ea typeface="Segoe UI"/>
              </a:rPr>
              <a:t>Modelo</a:t>
            </a:r>
          </a:p>
          <a:p>
            <a:pPr algn="ctr"/>
            <a:r>
              <a:rPr sz="1000">
                <a:solidFill>
                  <a:srgbClr val="8291A6"/>
                </a:solidFill>
                <a:latin typeface="Segoe UI"/>
                <a:ea typeface="Segoe UI"/>
              </a:rPr>
              <a:t>PDO + reglas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3F6184B-D55E-4770-B5E5-D2B4E1BAAF65}"/>
              </a:ext>
            </a:extLst>
          </p:cNvPr>
          <p:cNvSpPr/>
          <p:nvPr/>
        </p:nvSpPr>
        <p:spPr>
          <a:xfrm>
            <a:off x="10325100" y="2838450"/>
            <a:ext cx="266700" cy="266700"/>
          </a:xfrm>
          <a:prstGeom prst="rightArrow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BC4A9DE-03B0-4A49-9015-EE873EDF3153}"/>
              </a:ext>
            </a:extLst>
          </p:cNvPr>
          <p:cNvSpPr/>
          <p:nvPr/>
        </p:nvSpPr>
        <p:spPr>
          <a:xfrm>
            <a:off x="10668000" y="2571750"/>
            <a:ext cx="762000" cy="800100"/>
          </a:xfrm>
          <a:prstGeom prst="roundRect">
            <a:avLst/>
          </a:prstGeom>
          <a:solidFill>
            <a:srgbClr val="C9F04D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8101C"/>
                </a:solidFill>
                <a:latin typeface="Segoe UI"/>
                <a:ea typeface="Segoe UI"/>
              </a:rPr>
              <a:t>MySQL</a:t>
            </a:r>
          </a:p>
          <a:p>
            <a:pPr algn="ctr"/>
            <a:r>
              <a:rPr sz="1000">
                <a:solidFill>
                  <a:srgbClr val="08101C"/>
                </a:solidFill>
                <a:latin typeface="Consolas"/>
                <a:ea typeface="Consolas"/>
              </a:rPr>
              <a:t>8.0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FE5DBE0-95FF-45A8-92FA-0765A2F9025C}"/>
              </a:ext>
            </a:extLst>
          </p:cNvPr>
          <p:cNvSpPr/>
          <p:nvPr/>
        </p:nvSpPr>
        <p:spPr>
          <a:xfrm>
            <a:off x="6667500" y="3714750"/>
            <a:ext cx="1714500" cy="590550"/>
          </a:xfrm>
          <a:prstGeom prst="roundRect">
            <a:avLst/>
          </a:prstGeom>
          <a:solidFill>
            <a:srgbClr val="1B2B46"/>
          </a:solidFill>
          <a:ln w="12700">
            <a:solidFill>
              <a:srgbClr val="33476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E4EBF4"/>
                </a:solidFill>
                <a:latin typeface="Segoe UI"/>
                <a:ea typeface="Segoe UI"/>
              </a:rPr>
              <a:t>Vistas PHP</a:t>
            </a:r>
          </a:p>
          <a:p>
            <a:pPr algn="ctr"/>
            <a:r>
              <a:rPr sz="900">
                <a:solidFill>
                  <a:srgbClr val="A9B6C8"/>
                </a:solidFill>
                <a:latin typeface="Segoe UI"/>
                <a:ea typeface="Segoe UI"/>
              </a:rPr>
              <a:t>HTML distinto por rol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5E88CA0-E416-45E7-9893-5892FF2E7A6C}"/>
              </a:ext>
            </a:extLst>
          </p:cNvPr>
          <p:cNvSpPr/>
          <p:nvPr/>
        </p:nvSpPr>
        <p:spPr>
          <a:xfrm>
            <a:off x="7439025" y="3409950"/>
            <a:ext cx="171450" cy="266700"/>
          </a:xfrm>
          <a:prstGeom prst="downArrow">
            <a:avLst/>
          </a:prstGeom>
          <a:solidFill>
            <a:srgbClr val="5B739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64FCB26-7D46-45E3-A2D0-66AAF65F932B}"/>
              </a:ext>
            </a:extLst>
          </p:cNvPr>
          <p:cNvSpPr txBox="1"/>
          <p:nvPr/>
        </p:nvSpPr>
        <p:spPr>
          <a:xfrm>
            <a:off x="762000" y="4629150"/>
            <a:ext cx="23812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SESIÓN + CSRF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BE271BA-43F3-4AD6-8092-F4E938898E1C}"/>
              </a:ext>
            </a:extLst>
          </p:cNvPr>
          <p:cNvSpPr txBox="1"/>
          <p:nvPr/>
        </p:nvSpPr>
        <p:spPr>
          <a:xfrm>
            <a:off x="762000" y="4857750"/>
            <a:ext cx="23812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6C8"/>
                </a:solidFill>
                <a:latin typeface="Segoe UI"/>
                <a:ea typeface="Segoe UI"/>
              </a:rPr>
              <a:t>Token por formulario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EB15D6D-2F93-4CEB-A180-EE6191AC9EC5}"/>
              </a:ext>
            </a:extLst>
          </p:cNvPr>
          <p:cNvSpPr txBox="1"/>
          <p:nvPr/>
        </p:nvSpPr>
        <p:spPr>
          <a:xfrm>
            <a:off x="3429000" y="4629150"/>
            <a:ext cx="23812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CABECERAS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C31196C-5B67-4F0D-834E-F07378773E08}"/>
              </a:ext>
            </a:extLst>
          </p:cNvPr>
          <p:cNvSpPr txBox="1"/>
          <p:nvPr/>
        </p:nvSpPr>
        <p:spPr>
          <a:xfrm>
            <a:off x="3429000" y="4857750"/>
            <a:ext cx="23812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6C8"/>
                </a:solidFill>
                <a:latin typeface="Segoe UI"/>
                <a:ea typeface="Segoe UI"/>
              </a:rPr>
              <a:t>CSP y anti-clickjacking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505543B-535B-43D7-B324-56F57D30C1D6}"/>
              </a:ext>
            </a:extLst>
          </p:cNvPr>
          <p:cNvSpPr txBox="1"/>
          <p:nvPr/>
        </p:nvSpPr>
        <p:spPr>
          <a:xfrm>
            <a:off x="6096000" y="4629150"/>
            <a:ext cx="23812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ERRORES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C75FA6B-759F-4FCC-BE79-35FCCB27C227}"/>
              </a:ext>
            </a:extLst>
          </p:cNvPr>
          <p:cNvSpPr txBox="1"/>
          <p:nvPr/>
        </p:nvSpPr>
        <p:spPr>
          <a:xfrm>
            <a:off x="6096000" y="4857750"/>
            <a:ext cx="23812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6C8"/>
                </a:solidFill>
                <a:latin typeface="Segoe UI"/>
                <a:ea typeface="Segoe UI"/>
              </a:rPr>
              <a:t>Log y alerta, sin filtrar datos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E75B775-ADCF-49A8-A84A-C743851E5D24}"/>
              </a:ext>
            </a:extLst>
          </p:cNvPr>
          <p:cNvSpPr txBox="1"/>
          <p:nvPr/>
        </p:nvSpPr>
        <p:spPr>
          <a:xfrm>
            <a:off x="8763000" y="4629150"/>
            <a:ext cx="2667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CONSULTAS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A5CB7B1-7FA2-4559-A0DB-12C6B6B6E6C4}"/>
              </a:ext>
            </a:extLst>
          </p:cNvPr>
          <p:cNvSpPr txBox="1"/>
          <p:nvPr/>
        </p:nvSpPr>
        <p:spPr>
          <a:xfrm>
            <a:off x="8763000" y="4857750"/>
            <a:ext cx="2667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6C8"/>
                </a:solidFill>
                <a:latin typeface="Segoe UI"/>
                <a:ea typeface="Segoe UI"/>
              </a:rPr>
              <a:t>Preparadas, con parámetros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ECE7D579-144F-4ADB-A405-BD208C4B1A17}"/>
              </a:ext>
            </a:extLst>
          </p:cNvPr>
          <p:cNvSpPr/>
          <p:nvPr/>
        </p:nvSpPr>
        <p:spPr>
          <a:xfrm>
            <a:off x="762000" y="5257800"/>
            <a:ext cx="10668000" cy="7429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4E12596-37DE-48AB-89E6-A49F48223E41}"/>
              </a:ext>
            </a:extLst>
          </p:cNvPr>
          <p:cNvSpPr txBox="1"/>
          <p:nvPr/>
        </p:nvSpPr>
        <p:spPr>
          <a:xfrm>
            <a:off x="990600" y="5372100"/>
            <a:ext cx="190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DOCKER COMPOSE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612DE74-AF50-41FA-B6FA-2910A5B5F292}"/>
              </a:ext>
            </a:extLst>
          </p:cNvPr>
          <p:cNvSpPr txBox="1"/>
          <p:nvPr/>
        </p:nvSpPr>
        <p:spPr>
          <a:xfrm>
            <a:off x="990600" y="5619750"/>
            <a:ext cx="2381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7D2E0"/>
                </a:solidFill>
                <a:latin typeface="Consolas"/>
                <a:ea typeface="Consolas"/>
              </a:rPr>
              <a:t>web · php:8.2-apache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716CA55-8312-4339-B7AB-299DC57284DD}"/>
              </a:ext>
            </a:extLst>
          </p:cNvPr>
          <p:cNvSpPr txBox="1"/>
          <p:nvPr/>
        </p:nvSpPr>
        <p:spPr>
          <a:xfrm>
            <a:off x="3619500" y="561975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7D2E0"/>
                </a:solidFill>
                <a:latin typeface="Consolas"/>
                <a:ea typeface="Consolas"/>
              </a:rPr>
              <a:t>db · mysql:8.0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290A0DC-56AA-41BB-9F46-AA6EDA06FFF6}"/>
              </a:ext>
            </a:extLst>
          </p:cNvPr>
          <p:cNvSpPr txBox="1"/>
          <p:nvPr/>
        </p:nvSpPr>
        <p:spPr>
          <a:xfrm>
            <a:off x="6096000" y="561975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7D2E0"/>
                </a:solidFill>
                <a:latin typeface="Consolas"/>
                <a:ea typeface="Consolas"/>
              </a:rPr>
              <a:t>phpMyAdmin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54780F5-3E9F-4BF4-8EE0-4B199C718898}"/>
              </a:ext>
            </a:extLst>
          </p:cNvPr>
          <p:cNvSpPr txBox="1"/>
          <p:nvPr/>
        </p:nvSpPr>
        <p:spPr>
          <a:xfrm>
            <a:off x="8191500" y="561975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7D2E0"/>
                </a:solidFill>
                <a:latin typeface="Consolas"/>
                <a:ea typeface="Consolas"/>
              </a:rPr>
              <a:t>Grafana (opcional)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34183417-5B2A-430A-8EB0-45273DF26AF3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EF0EC32E-6594-4473-83A9-9BA05E4A0F56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M2  ·  7:30 – 9:00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82F7F7D5-FCB5-4EC1-856A-CB2606BC4E68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834C3D9-90C7-4BB9-8B99-71B752F73223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06  ·  BASES DE DATOS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A2ED31-0D5D-4465-B4F7-3DB98EFFCF81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2D1384A-F6D9-47C4-9067-A9BBDB50AB4A}"/>
              </a:ext>
            </a:extLst>
          </p:cNvPr>
          <p:cNvSpPr txBox="1"/>
          <p:nvPr/>
        </p:nvSpPr>
        <p:spPr>
          <a:xfrm>
            <a:off x="762000" y="838200"/>
            <a:ext cx="10668000" cy="579120"/>
          </a:xfrm>
        </p:spPr>
        <p:txBody>
          <a:bodyPr wrap="square" rtlCol="0" lIns="0" tIns="0" rIns="0" bIns="0" anchor="t"/>
          <a:lstStyle/>
          <a:p>
            <a:pPr algn="l"/>
            <a:r>
              <a:rPr sz="3800" b="1">
                <a:solidFill>
                  <a:srgbClr val="F2F5F9"/>
                </a:solidFill>
                <a:latin typeface="Segoe UI"/>
                <a:ea typeface="Segoe UI"/>
              </a:rPr>
              <a:t>La base no es un anexo: es el contrato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6BD68BC-79ED-4F02-9BA4-3AAF37512C61}"/>
              </a:ext>
            </a:extLst>
          </p:cNvPr>
          <p:cNvSpPr txBox="1"/>
          <p:nvPr/>
        </p:nvSpPr>
        <p:spPr>
          <a:xfrm>
            <a:off x="762000" y="1428750"/>
            <a:ext cx="1047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41 tablas, 7 migraciones y un seed que permite probar todos los formatos.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120A89D-6120-4318-8F9C-1D0836196CA4}"/>
              </a:ext>
            </a:extLst>
          </p:cNvPr>
          <p:cNvSpPr txBox="1"/>
          <p:nvPr/>
        </p:nvSpPr>
        <p:spPr>
          <a:xfrm>
            <a:off x="762000" y="1962150"/>
            <a:ext cx="1714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Tablas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74A7EB0-8A36-40B4-B3E5-06CBAE59C504}"/>
              </a:ext>
            </a:extLst>
          </p:cNvPr>
          <p:cNvSpPr/>
          <p:nvPr/>
        </p:nvSpPr>
        <p:spPr>
          <a:xfrm>
            <a:off x="2571750" y="1981200"/>
            <a:ext cx="4095750" cy="247650"/>
          </a:xfrm>
          <a:prstGeom prst="rect">
            <a:avLst/>
          </a:prstGeom>
          <a:solidFill>
            <a:srgbClr val="1B2B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FA4D8DA-CCFF-4978-90F5-7FBA8CE593ED}"/>
              </a:ext>
            </a:extLst>
          </p:cNvPr>
          <p:cNvSpPr/>
          <p:nvPr/>
        </p:nvSpPr>
        <p:spPr>
          <a:xfrm>
            <a:off x="2571750" y="1981200"/>
            <a:ext cx="1933575" cy="247650"/>
          </a:xfrm>
          <a:prstGeom prst="rect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F994AF7-768F-4130-8E3F-C32CA18CACF9}"/>
              </a:ext>
            </a:extLst>
          </p:cNvPr>
          <p:cNvSpPr txBox="1"/>
          <p:nvPr/>
        </p:nvSpPr>
        <p:spPr>
          <a:xfrm>
            <a:off x="6781800" y="1962150"/>
            <a:ext cx="666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C9F04D"/>
                </a:solidFill>
                <a:latin typeface="Segoe UI"/>
                <a:ea typeface="Segoe UI"/>
              </a:rPr>
              <a:t>41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CC5BDBE-D4DE-49A4-B8AC-6AA4853F3A1B}"/>
              </a:ext>
            </a:extLst>
          </p:cNvPr>
          <p:cNvSpPr txBox="1"/>
          <p:nvPr/>
        </p:nvSpPr>
        <p:spPr>
          <a:xfrm>
            <a:off x="762000" y="2514600"/>
            <a:ext cx="1714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Usuarios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36DBFD9-2FD6-49FF-9206-EAEE47EECD05}"/>
              </a:ext>
            </a:extLst>
          </p:cNvPr>
          <p:cNvSpPr/>
          <p:nvPr/>
        </p:nvSpPr>
        <p:spPr>
          <a:xfrm>
            <a:off x="2571750" y="2533650"/>
            <a:ext cx="4095750" cy="247650"/>
          </a:xfrm>
          <a:prstGeom prst="rect">
            <a:avLst/>
          </a:prstGeom>
          <a:solidFill>
            <a:srgbClr val="1B2B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798D71F-ACB5-4818-B957-3CC9DD133288}"/>
              </a:ext>
            </a:extLst>
          </p:cNvPr>
          <p:cNvSpPr/>
          <p:nvPr/>
        </p:nvSpPr>
        <p:spPr>
          <a:xfrm>
            <a:off x="2571750" y="2533650"/>
            <a:ext cx="2400300" cy="247650"/>
          </a:xfrm>
          <a:prstGeom prst="rect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9F8A8BA-358C-4C80-AC1B-D30181730A70}"/>
              </a:ext>
            </a:extLst>
          </p:cNvPr>
          <p:cNvSpPr txBox="1"/>
          <p:nvPr/>
        </p:nvSpPr>
        <p:spPr>
          <a:xfrm>
            <a:off x="6781800" y="2514600"/>
            <a:ext cx="666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C9F04D"/>
                </a:solidFill>
                <a:latin typeface="Segoe UI"/>
                <a:ea typeface="Segoe UI"/>
              </a:rPr>
              <a:t>51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484E696-1DB7-42DA-A800-4053EAD69DA4}"/>
              </a:ext>
            </a:extLst>
          </p:cNvPr>
          <p:cNvSpPr txBox="1"/>
          <p:nvPr/>
        </p:nvSpPr>
        <p:spPr>
          <a:xfrm>
            <a:off x="762000" y="3067050"/>
            <a:ext cx="1714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Torneos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D4DA3E1-F7EA-4106-A917-36450EE2B1A3}"/>
              </a:ext>
            </a:extLst>
          </p:cNvPr>
          <p:cNvSpPr/>
          <p:nvPr/>
        </p:nvSpPr>
        <p:spPr>
          <a:xfrm>
            <a:off x="2571750" y="3086100"/>
            <a:ext cx="4095750" cy="247650"/>
          </a:xfrm>
          <a:prstGeom prst="rect">
            <a:avLst/>
          </a:prstGeom>
          <a:solidFill>
            <a:srgbClr val="1B2B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A243DE7-16C8-4063-81F7-73326FC96AB8}"/>
              </a:ext>
            </a:extLst>
          </p:cNvPr>
          <p:cNvSpPr/>
          <p:nvPr/>
        </p:nvSpPr>
        <p:spPr>
          <a:xfrm>
            <a:off x="2571750" y="3086100"/>
            <a:ext cx="847725" cy="247650"/>
          </a:xfrm>
          <a:prstGeom prst="rect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83620C9-8993-4A86-A0B6-2E2BCDED1DBA}"/>
              </a:ext>
            </a:extLst>
          </p:cNvPr>
          <p:cNvSpPr txBox="1"/>
          <p:nvPr/>
        </p:nvSpPr>
        <p:spPr>
          <a:xfrm>
            <a:off x="6781800" y="3067050"/>
            <a:ext cx="666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C9F04D"/>
                </a:solidFill>
                <a:latin typeface="Segoe UI"/>
                <a:ea typeface="Segoe UI"/>
              </a:rPr>
              <a:t>18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B43B8C7-E5E0-4959-BB62-7AB26AD77DC1}"/>
              </a:ext>
            </a:extLst>
          </p:cNvPr>
          <p:cNvSpPr txBox="1"/>
          <p:nvPr/>
        </p:nvSpPr>
        <p:spPr>
          <a:xfrm>
            <a:off x="762000" y="3619500"/>
            <a:ext cx="1714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Equipos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87B8F27-AC0F-4ED0-A3E2-5986046D5C1D}"/>
              </a:ext>
            </a:extLst>
          </p:cNvPr>
          <p:cNvSpPr/>
          <p:nvPr/>
        </p:nvSpPr>
        <p:spPr>
          <a:xfrm>
            <a:off x="2571750" y="3638550"/>
            <a:ext cx="4095750" cy="247650"/>
          </a:xfrm>
          <a:prstGeom prst="rect">
            <a:avLst/>
          </a:prstGeom>
          <a:solidFill>
            <a:srgbClr val="1B2B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C96B9E2-6620-4409-96FF-3C9481EC71A0}"/>
              </a:ext>
            </a:extLst>
          </p:cNvPr>
          <p:cNvSpPr/>
          <p:nvPr/>
        </p:nvSpPr>
        <p:spPr>
          <a:xfrm>
            <a:off x="2571750" y="3638550"/>
            <a:ext cx="1085850" cy="247650"/>
          </a:xfrm>
          <a:prstGeom prst="rect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A062C01-75E6-4F8B-A0A9-5008DD34CC5E}"/>
              </a:ext>
            </a:extLst>
          </p:cNvPr>
          <p:cNvSpPr txBox="1"/>
          <p:nvPr/>
        </p:nvSpPr>
        <p:spPr>
          <a:xfrm>
            <a:off x="6781800" y="3619500"/>
            <a:ext cx="666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C9F04D"/>
                </a:solidFill>
                <a:latin typeface="Segoe UI"/>
                <a:ea typeface="Segoe UI"/>
              </a:rPr>
              <a:t>23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AAFF6F9-228E-4EA3-90C8-63AE65F10D34}"/>
              </a:ext>
            </a:extLst>
          </p:cNvPr>
          <p:cNvSpPr txBox="1"/>
          <p:nvPr/>
        </p:nvSpPr>
        <p:spPr>
          <a:xfrm>
            <a:off x="762000" y="4171950"/>
            <a:ext cx="1714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Participantes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22DD27C1-5856-4938-A34C-B7CADEC6034D}"/>
              </a:ext>
            </a:extLst>
          </p:cNvPr>
          <p:cNvSpPr/>
          <p:nvPr/>
        </p:nvSpPr>
        <p:spPr>
          <a:xfrm>
            <a:off x="2571750" y="4191000"/>
            <a:ext cx="4095750" cy="247650"/>
          </a:xfrm>
          <a:prstGeom prst="rect">
            <a:avLst/>
          </a:prstGeom>
          <a:solidFill>
            <a:srgbClr val="1B2B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9DC2204-49DB-49B8-9BAD-2CFB2641EA6B}"/>
              </a:ext>
            </a:extLst>
          </p:cNvPr>
          <p:cNvSpPr/>
          <p:nvPr/>
        </p:nvSpPr>
        <p:spPr>
          <a:xfrm>
            <a:off x="2571750" y="4191000"/>
            <a:ext cx="3810000" cy="247650"/>
          </a:xfrm>
          <a:prstGeom prst="rect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47E8DC4-A0A5-4670-A468-10BF69A57942}"/>
              </a:ext>
            </a:extLst>
          </p:cNvPr>
          <p:cNvSpPr txBox="1"/>
          <p:nvPr/>
        </p:nvSpPr>
        <p:spPr>
          <a:xfrm>
            <a:off x="6781800" y="4171950"/>
            <a:ext cx="666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C9F04D"/>
                </a:solidFill>
                <a:latin typeface="Segoe UI"/>
                <a:ea typeface="Segoe UI"/>
              </a:rPr>
              <a:t>81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B7BCDD7-1624-4A97-8EA2-22DE3AF4A898}"/>
              </a:ext>
            </a:extLst>
          </p:cNvPr>
          <p:cNvSpPr txBox="1"/>
          <p:nvPr/>
        </p:nvSpPr>
        <p:spPr>
          <a:xfrm>
            <a:off x="762000" y="4724400"/>
            <a:ext cx="1714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Encuentros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33C69FCC-B880-4168-87C5-B5C46E1F48A9}"/>
              </a:ext>
            </a:extLst>
          </p:cNvPr>
          <p:cNvSpPr/>
          <p:nvPr/>
        </p:nvSpPr>
        <p:spPr>
          <a:xfrm>
            <a:off x="2571750" y="4743450"/>
            <a:ext cx="4095750" cy="247650"/>
          </a:xfrm>
          <a:prstGeom prst="rect">
            <a:avLst/>
          </a:prstGeom>
          <a:solidFill>
            <a:srgbClr val="1B2B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725312A-666F-4B6D-86E8-01E04C73D874}"/>
              </a:ext>
            </a:extLst>
          </p:cNvPr>
          <p:cNvSpPr/>
          <p:nvPr/>
        </p:nvSpPr>
        <p:spPr>
          <a:xfrm>
            <a:off x="2571750" y="4743450"/>
            <a:ext cx="4095750" cy="247650"/>
          </a:xfrm>
          <a:prstGeom prst="rect">
            <a:avLst/>
          </a:prstGeom>
          <a:solidFill>
            <a:srgbClr val="C9F04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8309BA1-5CF6-417B-9901-4718D0C8CC71}"/>
              </a:ext>
            </a:extLst>
          </p:cNvPr>
          <p:cNvSpPr txBox="1"/>
          <p:nvPr/>
        </p:nvSpPr>
        <p:spPr>
          <a:xfrm>
            <a:off x="6781800" y="4724400"/>
            <a:ext cx="666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C9F04D"/>
                </a:solidFill>
                <a:latin typeface="Segoe UI"/>
                <a:ea typeface="Segoe UI"/>
              </a:rPr>
              <a:t>87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9F9FA0A3-91D2-482A-A718-F480A18C9C3E}"/>
              </a:ext>
            </a:extLst>
          </p:cNvPr>
          <p:cNvSpPr/>
          <p:nvPr/>
        </p:nvSpPr>
        <p:spPr>
          <a:xfrm>
            <a:off x="7715250" y="1924050"/>
            <a:ext cx="3714750" cy="38100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C731F60-4DDF-48C0-856D-E43738B2A2AD}"/>
              </a:ext>
            </a:extLst>
          </p:cNvPr>
          <p:cNvSpPr txBox="1"/>
          <p:nvPr/>
        </p:nvSpPr>
        <p:spPr>
          <a:xfrm>
            <a:off x="7981950" y="2114550"/>
            <a:ext cx="3143250" cy="914400"/>
          </a:xfrm>
        </p:spPr>
        <p:txBody>
          <a:bodyPr wrap="square" rtlCol="0" lIns="0" tIns="0" rIns="0" bIns="0" anchor="t"/>
          <a:lstStyle/>
          <a:p>
            <a:pPr algn="l"/>
            <a:r>
              <a:rPr sz="6000" b="1">
                <a:solidFill>
                  <a:srgbClr val="C9F04D"/>
                </a:solidFill>
                <a:latin typeface="Segoe UI"/>
                <a:ea typeface="Segoe UI"/>
              </a:rPr>
              <a:t>41</a:t>
            </a:r>
            <a:r>
              <a:rPr sz="1800">
                <a:solidFill>
                  <a:srgbClr val="C7D2E0"/>
                </a:solidFill>
                <a:latin typeface="Segoe UI"/>
                <a:ea typeface="Segoe UI"/>
              </a:rPr>
              <a:t>  tablas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C400845-D80F-4EC6-AD2F-EEDE2DD0BE06}"/>
              </a:ext>
            </a:extLst>
          </p:cNvPr>
          <p:cNvSpPr txBox="1"/>
          <p:nvPr/>
        </p:nvSpPr>
        <p:spPr>
          <a:xfrm>
            <a:off x="7981950" y="3124200"/>
            <a:ext cx="3181350" cy="1866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6 migraciones versionadas: esquema, catálogos, seed y correcciones.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El seed cubre liga, eliminación y suizo; individual y por equipos.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18 torneos y 87 encuentros consultables sin cargar nada a mano.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A1F56AE-695B-4933-BA2B-22CC5A8DF03E}"/>
              </a:ext>
            </a:extLst>
          </p:cNvPr>
          <p:cNvSpPr txBox="1"/>
          <p:nvPr/>
        </p:nvSpPr>
        <p:spPr>
          <a:xfrm>
            <a:off x="7981950" y="5334000"/>
            <a:ext cx="31432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Medido en Docker · 21/10/2026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734535A-A9F8-41F5-87A1-255CDA5E2695}"/>
              </a:ext>
            </a:extLst>
          </p:cNvPr>
          <p:cNvSpPr txBox="1"/>
          <p:nvPr/>
        </p:nvSpPr>
        <p:spPr>
          <a:xfrm>
            <a:off x="762000" y="529590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291A6"/>
                </a:solidFill>
                <a:latin typeface="Segoe UI"/>
                <a:ea typeface="Segoe UI"/>
              </a:rPr>
              <a:t>Cifras medidas en el dry run Docker; no son estimaciones.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F469A15-BD8C-412C-8733-DDEF79AACD59}"/>
              </a:ext>
            </a:extLst>
          </p:cNvPr>
          <p:cNvSpPr txBox="1"/>
          <p:nvPr/>
        </p:nvSpPr>
        <p:spPr>
          <a:xfrm>
            <a:off x="762000" y="5676900"/>
            <a:ext cx="85725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La calidad de los datos define la calidad de la demo.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180C840E-D487-428F-9817-5DB2335368C0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E31E04F-6303-4E38-86EE-993B3D78B524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M3  ·  9:00 – 11:00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9B21314-02BC-4496-9A59-D36FE4231E35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7BD2BDB-9A11-47B0-AE2A-8EF07CCA4A87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07  ·  CIBERSEGURIDAD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6A115BA-DFD0-4AEA-93C3-8F17B2C5242F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11E7C67-E7FB-4DB1-9379-0A397B1949B3}"/>
              </a:ext>
            </a:extLst>
          </p:cNvPr>
          <p:cNvSpPr txBox="1"/>
          <p:nvPr/>
        </p:nvSpPr>
        <p:spPr>
          <a:xfrm>
            <a:off x="762000" y="838200"/>
            <a:ext cx="10668000" cy="579120"/>
          </a:xfrm>
        </p:spPr>
        <p:txBody>
          <a:bodyPr wrap="square" rtlCol="0" lIns="0" tIns="0" rIns="0" bIns="0" anchor="t"/>
          <a:lstStyle/>
          <a:p>
            <a:pPr algn="l"/>
            <a:r>
              <a:rPr sz="3800" b="1">
                <a:solidFill>
                  <a:srgbClr val="F2F5F9"/>
                </a:solidFill>
                <a:latin typeface="Segoe UI"/>
                <a:ea typeface="Segoe UI"/>
              </a:rPr>
              <a:t>Seguridad por capas, no por frases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2A43DE-1635-4635-8E18-7D2D2DDE042C}"/>
              </a:ext>
            </a:extLst>
          </p:cNvPr>
          <p:cNvSpPr txBox="1"/>
          <p:nvPr/>
        </p:nvSpPr>
        <p:spPr>
          <a:xfrm>
            <a:off x="762000" y="1428750"/>
            <a:ext cx="1047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Defensa en profundidad: del formulario al sistema de archivos.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7829162-F409-418F-8AAB-C0F1D43C071B}"/>
              </a:ext>
            </a:extLst>
          </p:cNvPr>
          <p:cNvSpPr/>
          <p:nvPr/>
        </p:nvSpPr>
        <p:spPr>
          <a:xfrm>
            <a:off x="762000" y="1885950"/>
            <a:ext cx="5143500" cy="1476375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AF27C6E-6153-4C15-BB0A-3F8784BA98B8}"/>
              </a:ext>
            </a:extLst>
          </p:cNvPr>
          <p:cNvSpPr/>
          <p:nvPr/>
        </p:nvSpPr>
        <p:spPr>
          <a:xfrm>
            <a:off x="6286500" y="1885950"/>
            <a:ext cx="5143500" cy="1476375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FBC0C7D-9BBA-4C4F-83B0-911FDAC9ED2D}"/>
              </a:ext>
            </a:extLst>
          </p:cNvPr>
          <p:cNvSpPr/>
          <p:nvPr/>
        </p:nvSpPr>
        <p:spPr>
          <a:xfrm>
            <a:off x="762000" y="3476625"/>
            <a:ext cx="5143500" cy="1476375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901D35C-FA86-4DD8-AE92-546DEC5F2AEE}"/>
              </a:ext>
            </a:extLst>
          </p:cNvPr>
          <p:cNvSpPr/>
          <p:nvPr/>
        </p:nvSpPr>
        <p:spPr>
          <a:xfrm>
            <a:off x="6286500" y="3476625"/>
            <a:ext cx="5143500" cy="1476375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80307F-28F1-44C3-8453-7BD4975A8EE8}"/>
              </a:ext>
            </a:extLst>
          </p:cNvPr>
          <p:cNvSpPr txBox="1"/>
          <p:nvPr/>
        </p:nvSpPr>
        <p:spPr>
          <a:xfrm>
            <a:off x="990600" y="2038350"/>
            <a:ext cx="457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ACCESO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1271925-BAF5-49EC-A537-BDBE9F0AD5E4}"/>
              </a:ext>
            </a:extLst>
          </p:cNvPr>
          <p:cNvSpPr txBox="1"/>
          <p:nvPr/>
        </p:nvSpPr>
        <p:spPr>
          <a:xfrm>
            <a:off x="990600" y="2266950"/>
            <a:ext cx="4572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Control por rol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B2CE97C-4FAD-4B4E-8B8D-8A8458452DA7}"/>
              </a:ext>
            </a:extLst>
          </p:cNvPr>
          <p:cNvSpPr txBox="1"/>
          <p:nvPr/>
        </p:nvSpPr>
        <p:spPr>
          <a:xfrm>
            <a:off x="990600" y="2609850"/>
            <a:ext cx="4648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Guards en cada controlador: jugador, organizador y admin ven solo su superficie.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94905DD-9231-4778-8EA8-CD1F311EB781}"/>
              </a:ext>
            </a:extLst>
          </p:cNvPr>
          <p:cNvSpPr txBox="1"/>
          <p:nvPr/>
        </p:nvSpPr>
        <p:spPr>
          <a:xfrm>
            <a:off x="6515100" y="2038350"/>
            <a:ext cx="457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FORMULARIOS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EDC1F08-9F09-41A9-B45F-80C226A209FF}"/>
              </a:ext>
            </a:extLst>
          </p:cNvPr>
          <p:cNvSpPr txBox="1"/>
          <p:nvPr/>
        </p:nvSpPr>
        <p:spPr>
          <a:xfrm>
            <a:off x="6515100" y="2266950"/>
            <a:ext cx="4572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CSRF y sesión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7DA53E0-A7DD-4564-8FB1-DA7D0B75582B}"/>
              </a:ext>
            </a:extLst>
          </p:cNvPr>
          <p:cNvSpPr txBox="1"/>
          <p:nvPr/>
        </p:nvSpPr>
        <p:spPr>
          <a:xfrm>
            <a:off x="6515100" y="2609850"/>
            <a:ext cx="4648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Token de sesión en cada formulario, validación en POST y regeneración de sesión al autenticar.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0CC9061-29BC-48D3-9DC6-1903BABBED0B}"/>
              </a:ext>
            </a:extLst>
          </p:cNvPr>
          <p:cNvSpPr txBox="1"/>
          <p:nvPr/>
        </p:nvSpPr>
        <p:spPr>
          <a:xfrm>
            <a:off x="990600" y="3629025"/>
            <a:ext cx="457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CREDENCIALES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45056E3-E1A3-4EAE-BA73-410CDADEB2E2}"/>
              </a:ext>
            </a:extLst>
          </p:cNvPr>
          <p:cNvSpPr txBox="1"/>
          <p:nvPr/>
        </p:nvSpPr>
        <p:spPr>
          <a:xfrm>
            <a:off x="990600" y="3857625"/>
            <a:ext cx="4572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bcrypt y freno a la fuerza bruta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0FCE8CE-DC6A-4F18-BA19-D33D7E0E1021}"/>
              </a:ext>
            </a:extLst>
          </p:cNvPr>
          <p:cNvSpPr txBox="1"/>
          <p:nvPr/>
        </p:nvSpPr>
        <p:spPr>
          <a:xfrm>
            <a:off x="990600" y="4200525"/>
            <a:ext cx="4648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Hash bcrypt, política de contraseñas y bloqueo temporal por IP en intentos_login.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1FFE169-97BE-448B-9EA9-157EAD5CF925}"/>
              </a:ext>
            </a:extLst>
          </p:cNvPr>
          <p:cNvSpPr txBox="1"/>
          <p:nvPr/>
        </p:nvSpPr>
        <p:spPr>
          <a:xfrm>
            <a:off x="6515100" y="3629025"/>
            <a:ext cx="457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TRANSPORTE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08B4A54-35D1-42E9-A449-7A691B653853}"/>
              </a:ext>
            </a:extLst>
          </p:cNvPr>
          <p:cNvSpPr txBox="1"/>
          <p:nvPr/>
        </p:nvSpPr>
        <p:spPr>
          <a:xfrm>
            <a:off x="6515100" y="3857625"/>
            <a:ext cx="4572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F2F5F9"/>
                </a:solidFill>
                <a:latin typeface="Segoe UI"/>
                <a:ea typeface="Segoe UI"/>
              </a:rPr>
              <a:t>Cabeceras HTTP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51C6C18-AC2A-41E8-8EE5-D79C05CF813A}"/>
              </a:ext>
            </a:extLst>
          </p:cNvPr>
          <p:cNvSpPr txBox="1"/>
          <p:nvPr/>
        </p:nvSpPr>
        <p:spPr>
          <a:xfrm>
            <a:off x="6515100" y="4200525"/>
            <a:ext cx="46482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A9B6C8"/>
                </a:solidFill>
                <a:latin typeface="Segoe UI"/>
                <a:ea typeface="Segoe UI"/>
              </a:rPr>
              <a:t>CSP, X-Frame-Options, nosniff, Referrer-Policy y Permissions-Policy.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9D0E4A0-369C-4935-B3A7-0869FB075153}"/>
              </a:ext>
            </a:extLst>
          </p:cNvPr>
          <p:cNvSpPr/>
          <p:nvPr/>
        </p:nvSpPr>
        <p:spPr>
          <a:xfrm>
            <a:off x="762000" y="5105400"/>
            <a:ext cx="10668000" cy="78105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3A2A2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AFF9EAF-CAF9-4CDB-A751-E43C6D0CC751}"/>
              </a:ext>
            </a:extLst>
          </p:cNvPr>
          <p:cNvSpPr txBox="1"/>
          <p:nvPr/>
        </p:nvSpPr>
        <p:spPr>
          <a:xfrm>
            <a:off x="990600" y="5219700"/>
            <a:ext cx="2095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9E64"/>
                </a:solidFill>
                <a:latin typeface="Segoe UI"/>
                <a:ea typeface="Segoe UI"/>
              </a:rPr>
              <a:t>LÍMITE DECLARADO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37A65F2-9EDE-4E78-8E7F-2D16EA0DBA65}"/>
              </a:ext>
            </a:extLst>
          </p:cNvPr>
          <p:cNvSpPr txBox="1"/>
          <p:nvPr/>
        </p:nvSpPr>
        <p:spPr>
          <a:xfrm>
            <a:off x="990600" y="5467350"/>
            <a:ext cx="101917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7D2E0"/>
                </a:solidFill>
                <a:latin typeface="Segoe UI"/>
                <a:ea typeface="Segoe UI"/>
              </a:rPr>
              <a:t>Las credenciales de demo son públicas. Producción exige HTTPS, rotación y hardening del servidor.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7B25235E-34E5-48B3-90BA-19C8BAFA0A5D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0C453B6-F853-493D-8952-B63EF666DD47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M4  ·  11:00 – 13:00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2F3460B-15DE-4A2D-BB8E-640E11F23CB6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BB830D2-3F32-4571-A969-D2514ECA5F34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08  ·  SISTEMAS OPERATIVOS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F194E2C-164A-4F5D-AA2D-B36E8A9C6E0B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72FF9ED-0DD3-480D-9395-88D6ADAF07CA}"/>
              </a:ext>
            </a:extLst>
          </p:cNvPr>
          <p:cNvSpPr txBox="1"/>
          <p:nvPr/>
        </p:nvSpPr>
        <p:spPr>
          <a:xfrm>
            <a:off x="762000" y="838200"/>
            <a:ext cx="10668000" cy="579120"/>
          </a:xfrm>
        </p:spPr>
        <p:txBody>
          <a:bodyPr wrap="square" rtlCol="0" lIns="0" tIns="0" rIns="0" bIns="0" anchor="t"/>
          <a:lstStyle/>
          <a:p>
            <a:pPr algn="l"/>
            <a:r>
              <a:rPr sz="3800" b="1">
                <a:solidFill>
                  <a:srgbClr val="F2F5F9"/>
                </a:solidFill>
                <a:latin typeface="Segoe UI"/>
                <a:ea typeface="Segoe UI"/>
              </a:rPr>
              <a:t>El sistema también se opera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034FF9-73AF-43E9-ABA7-2D03C65467E4}"/>
              </a:ext>
            </a:extLst>
          </p:cNvPr>
          <p:cNvSpPr txBox="1"/>
          <p:nvPr/>
        </p:nvSpPr>
        <p:spPr>
          <a:xfrm>
            <a:off x="762000" y="1428750"/>
            <a:ext cx="1047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Toolkit Bash: 32 scripts, 9 módulos. Un menú que delega; cada script funciona solo.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B794110-01B8-43FD-AB00-AB8E56C86675}"/>
              </a:ext>
            </a:extLst>
          </p:cNvPr>
          <p:cNvSpPr/>
          <p:nvPr/>
        </p:nvSpPr>
        <p:spPr>
          <a:xfrm>
            <a:off x="762000" y="19812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01   Instalación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LAMP · Docker · MariaDB manual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D88C1B0-63CA-4AF6-84F2-0B0A5ADC41A8}"/>
              </a:ext>
            </a:extLst>
          </p:cNvPr>
          <p:cNvSpPr/>
          <p:nvPr/>
        </p:nvSpPr>
        <p:spPr>
          <a:xfrm>
            <a:off x="4381500" y="19812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02   Usuarios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Roles · sudoers · contraseñas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E36774A-DC1B-44B9-8656-B74E069881DD}"/>
              </a:ext>
            </a:extLst>
          </p:cNvPr>
          <p:cNvSpPr/>
          <p:nvPr/>
        </p:nvSpPr>
        <p:spPr>
          <a:xfrm>
            <a:off x="8001000" y="19812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03   Logs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Accesos · rotación · reportes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E710FD9-E7DB-4FAA-A635-343B0772FC0A}"/>
              </a:ext>
            </a:extLst>
          </p:cNvPr>
          <p:cNvSpPr/>
          <p:nvPr/>
        </p:nvSpPr>
        <p:spPr>
          <a:xfrm>
            <a:off x="762000" y="27813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04   Auditoría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auditd · consultas · reportes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A3E6B02-A442-4EAF-B4A2-8FD52E76FCEE}"/>
              </a:ext>
            </a:extLst>
          </p:cNvPr>
          <p:cNvSpPr/>
          <p:nvPr/>
        </p:nvSpPr>
        <p:spPr>
          <a:xfrm>
            <a:off x="4381500" y="27813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05   Respaldos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Local y remoto · SHA256 · cron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F46082C-1B35-4E4F-BD3C-EEDAA77FFD1C}"/>
              </a:ext>
            </a:extLst>
          </p:cNvPr>
          <p:cNvSpPr/>
          <p:nvPr/>
        </p:nvSpPr>
        <p:spPr>
          <a:xfrm>
            <a:off x="8001000" y="27813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06   Replicación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Maestro-esclavo MySQL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DD98BA7-0199-4008-9BFE-5A91D4190C64}"/>
              </a:ext>
            </a:extLst>
          </p:cNvPr>
          <p:cNvSpPr/>
          <p:nvPr/>
        </p:nvSpPr>
        <p:spPr>
          <a:xfrm>
            <a:off x="762000" y="35814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07   Procesos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Servicios · recursos · señales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892C888-A1B6-42B1-AA0F-C64A805621DF}"/>
              </a:ext>
            </a:extLst>
          </p:cNvPr>
          <p:cNvSpPr/>
          <p:nvPr/>
        </p:nvSpPr>
        <p:spPr>
          <a:xfrm>
            <a:off x="4381500" y="35814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08   Estado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Panel general del servidor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48029B3-753D-4124-8F1E-0BC48EB66096}"/>
              </a:ext>
            </a:extLst>
          </p:cNvPr>
          <p:cNvSpPr/>
          <p:nvPr/>
        </p:nvSpPr>
        <p:spPr>
          <a:xfrm>
            <a:off x="8001000" y="3581400"/>
            <a:ext cx="3429000" cy="6858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09   Documentación</a:t>
            </a:r>
          </a:p>
          <a:p>
            <a:pPr algn="l"/>
            <a:r>
              <a:rPr sz="1050">
                <a:solidFill>
                  <a:srgbClr val="A9B6C8"/>
                </a:solidFill>
                <a:latin typeface="Segoe UI"/>
                <a:ea typeface="Segoe UI"/>
              </a:rPr>
              <a:t>Guías · matriz de requisitos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B87C49B-92E5-4B20-B76B-EE08260D0E5C}"/>
              </a:ext>
            </a:extLst>
          </p:cNvPr>
          <p:cNvSpPr txBox="1"/>
          <p:nvPr/>
        </p:nvSpPr>
        <p:spPr>
          <a:xfrm>
            <a:off x="762000" y="4514850"/>
            <a:ext cx="3143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MENOR PRIVILEGIO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5DED82E-EA68-4053-9D40-32FF90E78E18}"/>
              </a:ext>
            </a:extLst>
          </p:cNvPr>
          <p:cNvSpPr txBox="1"/>
          <p:nvPr/>
        </p:nvSpPr>
        <p:spPr>
          <a:xfrm>
            <a:off x="762000" y="4743450"/>
            <a:ext cx="3143250" cy="467563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A9B6C8"/>
                </a:solidFill>
                <a:latin typeface="Segoe UI"/>
                <a:ea typeface="Segoe UI"/>
              </a:rPr>
              <a:t>Sudo acotado por grupo; el auditor no recibe sudo.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A783EBC-EB5F-4DDF-B61A-6941475C06CB}"/>
              </a:ext>
            </a:extLst>
          </p:cNvPr>
          <p:cNvSpPr txBox="1"/>
          <p:nvPr/>
        </p:nvSpPr>
        <p:spPr>
          <a:xfrm>
            <a:off x="4381500" y="4514850"/>
            <a:ext cx="3143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RECUPERABLE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71053E8-E22E-4F61-8EA9-485B999FB672}"/>
              </a:ext>
            </a:extLst>
          </p:cNvPr>
          <p:cNvSpPr txBox="1"/>
          <p:nvPr/>
        </p:nvSpPr>
        <p:spPr>
          <a:xfrm>
            <a:off x="4381500" y="4743450"/>
            <a:ext cx="3143250" cy="467563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A9B6C8"/>
                </a:solidFill>
                <a:latin typeface="Segoe UI"/>
                <a:ea typeface="Segoe UI"/>
              </a:rPr>
              <a:t>Copia remota con checksums; poda deshabilitada por defecto.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DFA1916-F0E3-430D-8375-F87D892A9F66}"/>
              </a:ext>
            </a:extLst>
          </p:cNvPr>
          <p:cNvSpPr txBox="1"/>
          <p:nvPr/>
        </p:nvSpPr>
        <p:spPr>
          <a:xfrm>
            <a:off x="8001000" y="4514850"/>
            <a:ext cx="3143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TRAZABLE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1B31D51-CB6F-4EDB-A1AB-EA9813DC14D6}"/>
              </a:ext>
            </a:extLst>
          </p:cNvPr>
          <p:cNvSpPr txBox="1"/>
          <p:nvPr/>
        </p:nvSpPr>
        <p:spPr>
          <a:xfrm>
            <a:off x="8001000" y="4743450"/>
            <a:ext cx="3143250" cy="467563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A9B6C8"/>
                </a:solidFill>
                <a:latin typeface="Segoe UI"/>
                <a:ea typeface="Segoe UI"/>
              </a:rPr>
              <a:t>auditoria.log y journald con la etiqueta ascend-admin.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9291430-19C8-467C-90A0-10E8190BEA1B}"/>
              </a:ext>
            </a:extLst>
          </p:cNvPr>
          <p:cNvSpPr/>
          <p:nvPr/>
        </p:nvSpPr>
        <p:spPr>
          <a:xfrm>
            <a:off x="762000" y="5334000"/>
            <a:ext cx="10668000" cy="6096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3A2A2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F7B9A18-1917-4492-A97C-A2082C172B8B}"/>
              </a:ext>
            </a:extLst>
          </p:cNvPr>
          <p:cNvSpPr txBox="1"/>
          <p:nvPr/>
        </p:nvSpPr>
        <p:spPr>
          <a:xfrm>
            <a:off x="990600" y="5429250"/>
            <a:ext cx="2476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F9E64"/>
                </a:solidFill>
                <a:latin typeface="Segoe UI"/>
                <a:ea typeface="Segoe UI"/>
              </a:rPr>
              <a:t>VALIDACIÓN DE ESTA ENTREGA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34904E9-58FB-4B20-BC1A-1DF312794191}"/>
              </a:ext>
            </a:extLst>
          </p:cNvPr>
          <p:cNvSpPr txBox="1"/>
          <p:nvPr/>
        </p:nvSpPr>
        <p:spPr>
          <a:xfrm>
            <a:off x="990600" y="5657850"/>
            <a:ext cx="101917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C7D2E0"/>
                </a:solidFill>
                <a:latin typeface="Consolas"/>
                <a:ea typeface="Consolas"/>
              </a:rPr>
              <a:t>bash -n 32/32  ·  --help 24/24  ·  ejecución real en VM Linux pendiente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B6404DF2-26C6-48BC-9088-627E42F7C8C3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44E8750-D138-43EE-A0EA-6DE7BD06E860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M4  ·  13:00 – 15:00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165B613-772E-4BED-B5B1-A2D57FAE7DA9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D40202B-ACCA-4699-A9CB-6E440A41F7DC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09  ·  MAPA DE FORMACIÓN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6819697-F5B8-45E5-A25B-EA447156F9BE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EAB34CB-AA95-4D41-8D03-C346BAFE1A2F}"/>
              </a:ext>
            </a:extLst>
          </p:cNvPr>
          <p:cNvSpPr txBox="1"/>
          <p:nvPr/>
        </p:nvSpPr>
        <p:spPr>
          <a:xfrm>
            <a:off x="762000" y="838200"/>
            <a:ext cx="10668000" cy="579120"/>
          </a:xfrm>
        </p:spPr>
        <p:txBody>
          <a:bodyPr wrap="square" rtlCol="0" lIns="0" tIns="0" rIns="0" bIns="0" anchor="t"/>
          <a:lstStyle/>
          <a:p>
            <a:pPr algn="l"/>
            <a:r>
              <a:rPr sz="3800" b="1">
                <a:solidFill>
                  <a:srgbClr val="F2F5F9"/>
                </a:solidFill>
                <a:latin typeface="Segoe UI"/>
                <a:ea typeface="Segoe UI"/>
              </a:rPr>
              <a:t>Cinco materias, una sola entrega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0D7EC12-E094-4C35-B743-8C58220C44AD}"/>
              </a:ext>
            </a:extLst>
          </p:cNvPr>
          <p:cNvSpPr txBox="1"/>
          <p:nvPr/>
        </p:nvSpPr>
        <p:spPr>
          <a:xfrm>
            <a:off x="762000" y="1428750"/>
            <a:ext cx="1047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Cada materia dejó una huella verificable en el mismo sistema.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EC55517-6A2C-493D-83E6-CBE47B582A80}"/>
              </a:ext>
            </a:extLst>
          </p:cNvPr>
          <p:cNvSpPr txBox="1"/>
          <p:nvPr/>
        </p:nvSpPr>
        <p:spPr>
          <a:xfrm>
            <a:off x="762000" y="1885950"/>
            <a:ext cx="228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MATERIA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F6FA8E0-AF43-4036-BB7E-651E9F10FFF4}"/>
              </a:ext>
            </a:extLst>
          </p:cNvPr>
          <p:cNvSpPr txBox="1"/>
          <p:nvPr/>
        </p:nvSpPr>
        <p:spPr>
          <a:xfrm>
            <a:off x="3238500" y="1885950"/>
            <a:ext cx="495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QUÉ HICIMOS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A128EA-8A80-484C-9A5C-6E225E0A85D9}"/>
              </a:ext>
            </a:extLst>
          </p:cNvPr>
          <p:cNvSpPr txBox="1"/>
          <p:nvPr/>
        </p:nvSpPr>
        <p:spPr>
          <a:xfrm>
            <a:off x="8477250" y="1885950"/>
            <a:ext cx="2952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EVIDENCIA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3F7F163-69C2-4E05-98DE-F2A44F53F1AB}"/>
              </a:ext>
            </a:extLst>
          </p:cNvPr>
          <p:cNvSpPr/>
          <p:nvPr/>
        </p:nvSpPr>
        <p:spPr>
          <a:xfrm>
            <a:off x="762000" y="213360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40352B9-8D1A-47F3-B20F-630571BFB9F9}"/>
              </a:ext>
            </a:extLst>
          </p:cNvPr>
          <p:cNvSpPr/>
          <p:nvPr/>
        </p:nvSpPr>
        <p:spPr>
          <a:xfrm>
            <a:off x="762000" y="2209800"/>
            <a:ext cx="10668000" cy="609600"/>
          </a:xfrm>
          <a:prstGeom prst="rect">
            <a:avLst/>
          </a:prstGeom>
          <a:solidFill>
            <a:srgbClr val="10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E02117D-F6B3-4444-A975-584C9C7969B9}"/>
              </a:ext>
            </a:extLst>
          </p:cNvPr>
          <p:cNvSpPr/>
          <p:nvPr/>
        </p:nvSpPr>
        <p:spPr>
          <a:xfrm>
            <a:off x="762000" y="2895600"/>
            <a:ext cx="10668000" cy="9525"/>
          </a:xfrm>
          <a:prstGeom prst="rect">
            <a:avLst/>
          </a:prstGeom>
          <a:solidFill>
            <a:srgbClr val="22314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D2FC8EB-5400-4096-8C4F-C85F5AD3F43D}"/>
              </a:ext>
            </a:extLst>
          </p:cNvPr>
          <p:cNvSpPr/>
          <p:nvPr/>
        </p:nvSpPr>
        <p:spPr>
          <a:xfrm>
            <a:off x="762000" y="2971800"/>
            <a:ext cx="10668000" cy="609600"/>
          </a:xfrm>
          <a:prstGeom prst="rect">
            <a:avLst/>
          </a:prstGeom>
          <a:solidFill>
            <a:srgbClr val="10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6B48318-6A57-4820-ABA4-A32500802F8A}"/>
              </a:ext>
            </a:extLst>
          </p:cNvPr>
          <p:cNvSpPr/>
          <p:nvPr/>
        </p:nvSpPr>
        <p:spPr>
          <a:xfrm>
            <a:off x="762000" y="3657600"/>
            <a:ext cx="10668000" cy="9525"/>
          </a:xfrm>
          <a:prstGeom prst="rect">
            <a:avLst/>
          </a:prstGeom>
          <a:solidFill>
            <a:srgbClr val="22314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167B2CD-4A4C-4F38-9C55-7268D0A67E7E}"/>
              </a:ext>
            </a:extLst>
          </p:cNvPr>
          <p:cNvSpPr/>
          <p:nvPr/>
        </p:nvSpPr>
        <p:spPr>
          <a:xfrm>
            <a:off x="762000" y="3733800"/>
            <a:ext cx="10668000" cy="609600"/>
          </a:xfrm>
          <a:prstGeom prst="rect">
            <a:avLst/>
          </a:prstGeom>
          <a:solidFill>
            <a:srgbClr val="10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75F882F-7CEB-473C-A4FA-478C674CBD4E}"/>
              </a:ext>
            </a:extLst>
          </p:cNvPr>
          <p:cNvSpPr/>
          <p:nvPr/>
        </p:nvSpPr>
        <p:spPr>
          <a:xfrm>
            <a:off x="762000" y="4419600"/>
            <a:ext cx="10668000" cy="9525"/>
          </a:xfrm>
          <a:prstGeom prst="rect">
            <a:avLst/>
          </a:prstGeom>
          <a:solidFill>
            <a:srgbClr val="22314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07C67B4-2DE4-48E1-9374-515212675D02}"/>
              </a:ext>
            </a:extLst>
          </p:cNvPr>
          <p:cNvSpPr/>
          <p:nvPr/>
        </p:nvSpPr>
        <p:spPr>
          <a:xfrm>
            <a:off x="762000" y="4495800"/>
            <a:ext cx="10668000" cy="609600"/>
          </a:xfrm>
          <a:prstGeom prst="rect">
            <a:avLst/>
          </a:prstGeom>
          <a:solidFill>
            <a:srgbClr val="10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A046EF6-5F1E-490E-83AC-F78C3D0D67B8}"/>
              </a:ext>
            </a:extLst>
          </p:cNvPr>
          <p:cNvSpPr/>
          <p:nvPr/>
        </p:nvSpPr>
        <p:spPr>
          <a:xfrm>
            <a:off x="762000" y="5181600"/>
            <a:ext cx="10668000" cy="9525"/>
          </a:xfrm>
          <a:prstGeom prst="rect">
            <a:avLst/>
          </a:prstGeom>
          <a:solidFill>
            <a:srgbClr val="22314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DF6BDFD-BB64-49CE-9ED4-2C02C67D5EF4}"/>
              </a:ext>
            </a:extLst>
          </p:cNvPr>
          <p:cNvSpPr/>
          <p:nvPr/>
        </p:nvSpPr>
        <p:spPr>
          <a:xfrm>
            <a:off x="762000" y="5257800"/>
            <a:ext cx="10668000" cy="609600"/>
          </a:xfrm>
          <a:prstGeom prst="rect">
            <a:avLst/>
          </a:prstGeom>
          <a:solidFill>
            <a:srgbClr val="10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BCC543D-1AFF-47F8-AFCD-3B5DA9D8646A}"/>
              </a:ext>
            </a:extLst>
          </p:cNvPr>
          <p:cNvSpPr txBox="1"/>
          <p:nvPr/>
        </p:nvSpPr>
        <p:spPr>
          <a:xfrm>
            <a:off x="952500" y="2324100"/>
            <a:ext cx="2095500" cy="580339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Ingeniería de</a:t>
            </a:r>
            <a:br/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software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CF4B62E-45DB-4D1C-BB64-21EF2D0D3A18}"/>
              </a:ext>
            </a:extLst>
          </p:cNvPr>
          <p:cNvSpPr txBox="1"/>
          <p:nvPr/>
        </p:nvSpPr>
        <p:spPr>
          <a:xfrm>
            <a:off x="3238500" y="2343150"/>
            <a:ext cx="4953000" cy="49072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Requisitos, arquitectura MVC, auditoría técnica y checklist de entrega.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4FFBEF3-B098-408F-A112-0229BF1B2D55}"/>
              </a:ext>
            </a:extLst>
          </p:cNvPr>
          <p:cNvSpPr txBox="1"/>
          <p:nvPr/>
        </p:nvSpPr>
        <p:spPr>
          <a:xfrm>
            <a:off x="8477250" y="23622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9F04D"/>
                </a:solidFill>
                <a:latin typeface="Consolas"/>
                <a:ea typeface="Consolas"/>
              </a:rPr>
              <a:t>informes_auditoria/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F2D4432-9B3F-47F6-BF18-5B87A54D00A2}"/>
              </a:ext>
            </a:extLst>
          </p:cNvPr>
          <p:cNvSpPr txBox="1"/>
          <p:nvPr/>
        </p:nvSpPr>
        <p:spPr>
          <a:xfrm>
            <a:off x="952500" y="3086100"/>
            <a:ext cx="2095500" cy="580339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Programación</a:t>
            </a:r>
            <a:br/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full stack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A6801EA-FEA2-441D-AB74-39BEE6B38617}"/>
              </a:ext>
            </a:extLst>
          </p:cNvPr>
          <p:cNvSpPr txBox="1"/>
          <p:nvPr/>
        </p:nvSpPr>
        <p:spPr>
          <a:xfrm>
            <a:off x="3238500" y="3105150"/>
            <a:ext cx="4953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PHP 8, routing, sesiones, vistas por rol y formularios validados.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4A09317-6ED0-4E2D-A2E0-511C6423A9F8}"/>
              </a:ext>
            </a:extLst>
          </p:cNvPr>
          <p:cNvSpPr txBox="1"/>
          <p:nvPr/>
        </p:nvSpPr>
        <p:spPr>
          <a:xfrm>
            <a:off x="8477250" y="31242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9F04D"/>
                </a:solidFill>
                <a:latin typeface="Consolas"/>
                <a:ea typeface="Consolas"/>
              </a:rPr>
              <a:t>50+ rutas HTTP 200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9E75C2F-645D-4D39-81FB-5F5C62614A32}"/>
              </a:ext>
            </a:extLst>
          </p:cNvPr>
          <p:cNvSpPr txBox="1"/>
          <p:nvPr/>
        </p:nvSpPr>
        <p:spPr>
          <a:xfrm>
            <a:off x="952500" y="3848100"/>
            <a:ext cx="2095500" cy="580339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Bases de</a:t>
            </a:r>
            <a:br/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datos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311FD01-7E0F-4A77-8DFB-3A2690B9D95F}"/>
              </a:ext>
            </a:extLst>
          </p:cNvPr>
          <p:cNvSpPr txBox="1"/>
          <p:nvPr/>
        </p:nvSpPr>
        <p:spPr>
          <a:xfrm>
            <a:off x="3238500" y="3867150"/>
            <a:ext cx="4953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41 tablas, 7 migraciones, seed QA, respaldo y replicación.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7B3A444-09F0-45AE-BC31-A11D2F822883}"/>
              </a:ext>
            </a:extLst>
          </p:cNvPr>
          <p:cNvSpPr txBox="1"/>
          <p:nvPr/>
        </p:nvSpPr>
        <p:spPr>
          <a:xfrm>
            <a:off x="8477250" y="38862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9F04D"/>
                </a:solidFill>
                <a:latin typeface="Consolas"/>
                <a:ea typeface="Consolas"/>
              </a:rPr>
              <a:t>18 torneos · 87 encuentros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AF2D4D8-92B2-4F83-B524-495CC845CFE7}"/>
              </a:ext>
            </a:extLst>
          </p:cNvPr>
          <p:cNvSpPr txBox="1"/>
          <p:nvPr/>
        </p:nvSpPr>
        <p:spPr>
          <a:xfrm>
            <a:off x="952500" y="4610100"/>
            <a:ext cx="2095500" cy="400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Ciberseguridad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69FF2D6-ECFA-432E-96A8-C8D15CA6AAC7}"/>
              </a:ext>
            </a:extLst>
          </p:cNvPr>
          <p:cNvSpPr txBox="1"/>
          <p:nvPr/>
        </p:nvSpPr>
        <p:spPr>
          <a:xfrm>
            <a:off x="3238500" y="4629150"/>
            <a:ext cx="4953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RBAC, CSRF, bcrypt, cabeceras HTTP y menor privilegio.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2ACF0EE-807E-42B0-9F61-778B8E0B8209}"/>
              </a:ext>
            </a:extLst>
          </p:cNvPr>
          <p:cNvSpPr txBox="1"/>
          <p:nvPr/>
        </p:nvSpPr>
        <p:spPr>
          <a:xfrm>
            <a:off x="8477250" y="46482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9F04D"/>
                </a:solidFill>
                <a:latin typeface="Consolas"/>
                <a:ea typeface="Consolas"/>
              </a:rPr>
              <a:t>guards + auditoría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9A74F133-DECB-4E19-8596-E07C2A23A762}"/>
              </a:ext>
            </a:extLst>
          </p:cNvPr>
          <p:cNvSpPr txBox="1"/>
          <p:nvPr/>
        </p:nvSpPr>
        <p:spPr>
          <a:xfrm>
            <a:off x="952500" y="5372100"/>
            <a:ext cx="2095500" cy="580339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Sistemas</a:t>
            </a:r>
            <a:br/>
            <a:r>
              <a:rPr sz="1700" b="1">
                <a:solidFill>
                  <a:srgbClr val="F2F5F9"/>
                </a:solidFill>
                <a:latin typeface="Segoe UI"/>
                <a:ea typeface="Segoe UI"/>
              </a:rPr>
              <a:t>operativos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F6B7919-7AF9-4070-9987-86B60C006F03}"/>
              </a:ext>
            </a:extLst>
          </p:cNvPr>
          <p:cNvSpPr txBox="1"/>
          <p:nvPr/>
        </p:nvSpPr>
        <p:spPr>
          <a:xfrm>
            <a:off x="3238500" y="5391150"/>
            <a:ext cx="4953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LAMP/Docker, systemd, logs, respaldos, replicación y procesos.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63176F4-F88C-40FE-B255-8D55070D17D8}"/>
              </a:ext>
            </a:extLst>
          </p:cNvPr>
          <p:cNvSpPr txBox="1"/>
          <p:nvPr/>
        </p:nvSpPr>
        <p:spPr>
          <a:xfrm>
            <a:off x="8477250" y="54102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9F04D"/>
                </a:solidFill>
                <a:latin typeface="Consolas"/>
                <a:ea typeface="Consolas"/>
              </a:rPr>
              <a:t>toolkit de 32 scripts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35EFD37-B4D3-48B1-9693-6BCFA7707299}"/>
              </a:ext>
            </a:extLst>
          </p:cNvPr>
          <p:cNvSpPr txBox="1"/>
          <p:nvPr/>
        </p:nvSpPr>
        <p:spPr>
          <a:xfrm>
            <a:off x="762000" y="5981700"/>
            <a:ext cx="100012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i="1">
                <a:solidFill>
                  <a:srgbClr val="A9B6C8"/>
                </a:solidFill>
                <a:latin typeface="Segoe UI"/>
                <a:ea typeface="Segoe UI"/>
              </a:rPr>
              <a:t>No son cinco proyectos pegados: es un mismo flujo, mirado desde cinco materias.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546B5098-E3B0-4A52-B478-881CEED0FC04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401194F2-4F8D-499C-BA1E-DCD37B5EFAE8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M1  ·  15:00 – 16:30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3915B487-45AC-48B9-8228-2845D142228E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7DCA3C-4E33-4C90-914C-27F5F48B9A67}"/>
              </a:ext>
            </a:extLst>
          </p:cNvPr>
          <p:cNvSpPr txBox="1"/>
          <p:nvPr/>
        </p:nvSpPr>
        <p:spPr>
          <a:xfrm>
            <a:off x="762000" y="5334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10  ·  EVIDENCIA Y LÍMITES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7E713F2-2E57-439A-BA2A-53185630739D}"/>
              </a:ext>
            </a:extLst>
          </p:cNvPr>
          <p:cNvSpPr txBox="1"/>
          <p:nvPr/>
        </p:nvSpPr>
        <p:spPr>
          <a:xfrm>
            <a:off x="9906000" y="53340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188690B-0AAE-4A72-BC88-B03C227EE66E}"/>
              </a:ext>
            </a:extLst>
          </p:cNvPr>
          <p:cNvSpPr txBox="1"/>
          <p:nvPr/>
        </p:nvSpPr>
        <p:spPr>
          <a:xfrm>
            <a:off x="762000" y="838200"/>
            <a:ext cx="10668000" cy="579120"/>
          </a:xfrm>
        </p:spPr>
        <p:txBody>
          <a:bodyPr wrap="square" rtlCol="0" lIns="0" tIns="0" rIns="0" bIns="0" anchor="t"/>
          <a:lstStyle/>
          <a:p>
            <a:pPr algn="l"/>
            <a:r>
              <a:rPr sz="3800" b="1">
                <a:solidFill>
                  <a:srgbClr val="F2F5F9"/>
                </a:solidFill>
                <a:latin typeface="Segoe UI"/>
                <a:ea typeface="Segoe UI"/>
              </a:rPr>
              <a:t>La evidencia manda; los límites también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F61EC8-62B9-41CC-AC1B-B21EEAABDA30}"/>
              </a:ext>
            </a:extLst>
          </p:cNvPr>
          <p:cNvSpPr txBox="1"/>
          <p:nvPr/>
        </p:nvSpPr>
        <p:spPr>
          <a:xfrm>
            <a:off x="762000" y="1428750"/>
            <a:ext cx="1047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A9B6C8"/>
                </a:solidFill>
                <a:latin typeface="Segoe UI"/>
                <a:ea typeface="Segoe UI"/>
              </a:rPr>
              <a:t>Lo que probamos, lo que no, y por qué no lo maquillamos.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2503006-433A-4109-8C2E-96FC1BB935D8}"/>
              </a:ext>
            </a:extLst>
          </p:cNvPr>
          <p:cNvSpPr/>
          <p:nvPr/>
        </p:nvSpPr>
        <p:spPr>
          <a:xfrm>
            <a:off x="762000" y="1885950"/>
            <a:ext cx="2524125" cy="12573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643D849-1FFC-4A28-A5D8-61977CF95C1B}"/>
              </a:ext>
            </a:extLst>
          </p:cNvPr>
          <p:cNvSpPr/>
          <p:nvPr/>
        </p:nvSpPr>
        <p:spPr>
          <a:xfrm>
            <a:off x="3476625" y="1885950"/>
            <a:ext cx="2524125" cy="12573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9776A2B-369E-4D48-A782-EB5816043780}"/>
              </a:ext>
            </a:extLst>
          </p:cNvPr>
          <p:cNvSpPr/>
          <p:nvPr/>
        </p:nvSpPr>
        <p:spPr>
          <a:xfrm>
            <a:off x="6191250" y="1885950"/>
            <a:ext cx="2524125" cy="12573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C16D2EE-9E09-4F38-9801-159ACF124655}"/>
              </a:ext>
            </a:extLst>
          </p:cNvPr>
          <p:cNvSpPr/>
          <p:nvPr/>
        </p:nvSpPr>
        <p:spPr>
          <a:xfrm>
            <a:off x="8905875" y="1885950"/>
            <a:ext cx="2524125" cy="125730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A3952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8F68D9D-C531-40FB-9ABC-F6D5B040410A}"/>
              </a:ext>
            </a:extLst>
          </p:cNvPr>
          <p:cNvSpPr txBox="1"/>
          <p:nvPr/>
        </p:nvSpPr>
        <p:spPr>
          <a:xfrm>
            <a:off x="990600" y="2019300"/>
            <a:ext cx="2095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C9F04D"/>
                </a:solidFill>
                <a:latin typeface="Segoe UI"/>
                <a:ea typeface="Segoe UI"/>
              </a:rPr>
              <a:t>32/32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E28784D-8804-48DD-B78A-62078CE22F40}"/>
              </a:ext>
            </a:extLst>
          </p:cNvPr>
          <p:cNvSpPr txBox="1"/>
          <p:nvPr/>
        </p:nvSpPr>
        <p:spPr>
          <a:xfrm>
            <a:off x="990600" y="2676525"/>
            <a:ext cx="2095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scripts con sintaxis</a:t>
            </a:r>
            <a:br/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válida (bash -n)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7F8B831-1807-4CFB-A442-A3165CE19DD4}"/>
              </a:ext>
            </a:extLst>
          </p:cNvPr>
          <p:cNvSpPr txBox="1"/>
          <p:nvPr/>
        </p:nvSpPr>
        <p:spPr>
          <a:xfrm>
            <a:off x="3705225" y="2019300"/>
            <a:ext cx="2095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C9F04D"/>
                </a:solidFill>
                <a:latin typeface="Segoe UI"/>
                <a:ea typeface="Segoe UI"/>
              </a:rPr>
              <a:t>24/24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FE534D-99EA-4CA1-9CDA-B636F0B637EF}"/>
              </a:ext>
            </a:extLst>
          </p:cNvPr>
          <p:cNvSpPr txBox="1"/>
          <p:nvPr/>
        </p:nvSpPr>
        <p:spPr>
          <a:xfrm>
            <a:off x="3705225" y="2676525"/>
            <a:ext cx="2095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scripts con --help</a:t>
            </a:r>
            <a:br/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operativo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50D19A-54AB-4438-8960-7ADECEC0E247}"/>
              </a:ext>
            </a:extLst>
          </p:cNvPr>
          <p:cNvSpPr txBox="1"/>
          <p:nvPr/>
        </p:nvSpPr>
        <p:spPr>
          <a:xfrm>
            <a:off x="6419850" y="2019300"/>
            <a:ext cx="2095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C9F04D"/>
                </a:solidFill>
                <a:latin typeface="Segoe UI"/>
                <a:ea typeface="Segoe UI"/>
              </a:rPr>
              <a:t>16/16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F06A065-AC29-49FC-810F-B564E62BBDCD}"/>
              </a:ext>
            </a:extLst>
          </p:cNvPr>
          <p:cNvSpPr txBox="1"/>
          <p:nvPr/>
        </p:nvSpPr>
        <p:spPr>
          <a:xfrm>
            <a:off x="6419850" y="2676525"/>
            <a:ext cx="2095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rutas públicas</a:t>
            </a:r>
            <a:br/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con HTTP 200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F459C76-FAC8-420A-8834-FCE36A4EC901}"/>
              </a:ext>
            </a:extLst>
          </p:cNvPr>
          <p:cNvSpPr txBox="1"/>
          <p:nvPr/>
        </p:nvSpPr>
        <p:spPr>
          <a:xfrm>
            <a:off x="9134475" y="2019300"/>
            <a:ext cx="2095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C9F04D"/>
                </a:solidFill>
                <a:latin typeface="Segoe UI"/>
                <a:ea typeface="Segoe UI"/>
              </a:rPr>
              <a:t>18/18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85D5F2F-CBF3-46B2-8A12-0E35F1BBEEE6}"/>
              </a:ext>
            </a:extLst>
          </p:cNvPr>
          <p:cNvSpPr txBox="1"/>
          <p:nvPr/>
        </p:nvSpPr>
        <p:spPr>
          <a:xfrm>
            <a:off x="9134475" y="2676525"/>
            <a:ext cx="2095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rutas de admin</a:t>
            </a:r>
            <a:br/>
            <a:r>
              <a:rPr sz="1300">
                <a:solidFill>
                  <a:srgbClr val="C7D2E0"/>
                </a:solidFill>
                <a:latin typeface="Segoe UI"/>
                <a:ea typeface="Segoe UI"/>
              </a:rPr>
              <a:t>con HTTP 200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50B66DD-E20A-4B76-A6DD-04423AB7A152}"/>
              </a:ext>
            </a:extLst>
          </p:cNvPr>
          <p:cNvSpPr txBox="1"/>
          <p:nvPr/>
        </p:nvSpPr>
        <p:spPr>
          <a:xfrm>
            <a:off x="762000" y="3390900"/>
            <a:ext cx="495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C9F04D"/>
                </a:solidFill>
                <a:latin typeface="Segoe UI"/>
                <a:ea typeface="Segoe UI"/>
              </a:rPr>
              <a:t>VERIFICADO EN DOCKER  ·  21/10/2026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D87A1FF-BDB1-4DDA-BCFE-DC02233398CB}"/>
              </a:ext>
            </a:extLst>
          </p:cNvPr>
          <p:cNvSpPr txBox="1"/>
          <p:nvPr/>
        </p:nvSpPr>
        <p:spPr>
          <a:xfrm>
            <a:off x="762000" y="3657600"/>
            <a:ext cx="504825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Stack desde volumen vacío; 41 tablas, 51 usuarios y 18 torneos.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Rutas públicas y paneles de los tres roles en navegador.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Suite local y dry run documentados.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Migraciones 001→006 aplicadas sin intervención.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903CE26-9D9D-4292-BFF4-9F30EC514C3D}"/>
              </a:ext>
            </a:extLst>
          </p:cNvPr>
          <p:cNvSpPr txBox="1"/>
          <p:nvPr/>
        </p:nvSpPr>
        <p:spPr>
          <a:xfrm>
            <a:off x="6286500" y="3390900"/>
            <a:ext cx="495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9E64"/>
                </a:solidFill>
                <a:latin typeface="Segoe UI"/>
                <a:ea typeface="Segoe UI"/>
              </a:rPr>
              <a:t>NO VERIFICADO TODAVÍA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EF514E9-6F9D-49E5-B0C3-BFCBBAB9CB9F}"/>
              </a:ext>
            </a:extLst>
          </p:cNvPr>
          <p:cNvSpPr txBox="1"/>
          <p:nvPr/>
        </p:nvSpPr>
        <p:spPr>
          <a:xfrm>
            <a:off x="6286500" y="3657600"/>
            <a:ext cx="504825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Instaladores y operaciones del toolkit en VM Linux.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Restauración real de un respaldo.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Replicación maestro-esclavo real.</a:t>
            </a:r>
          </a:p>
          <a:p>
            <a:pPr algn="l">
              <a:lnSpc>
                <a:spcPct val="118000"/>
              </a:lnSpc>
            </a:pPr>
            <a:r>
              <a:rPr sz="1400">
                <a:solidFill>
                  <a:srgbClr val="C7D2E0"/>
                </a:solidFill>
                <a:latin typeface="Segoe UI"/>
                <a:ea typeface="Segoe UI"/>
              </a:rPr>
              <a:t>—  Hardening de producción y HTTPS.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2196F56-E8B4-43BC-896D-741454F00607}"/>
              </a:ext>
            </a:extLst>
          </p:cNvPr>
          <p:cNvSpPr txBox="1"/>
          <p:nvPr/>
        </p:nvSpPr>
        <p:spPr>
          <a:xfrm>
            <a:off x="762000" y="5467350"/>
            <a:ext cx="10477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2F5F9"/>
                </a:solidFill>
                <a:latin typeface="Segoe UI"/>
                <a:ea typeface="Segoe UI"/>
              </a:rPr>
              <a:t>No convertimos análisis estático en prueba funcional.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9815D6E-7F99-4DE2-9708-DA4DC8123F71}"/>
              </a:ext>
            </a:extLst>
          </p:cNvPr>
          <p:cNvSpPr txBox="1"/>
          <p:nvPr/>
        </p:nvSpPr>
        <p:spPr>
          <a:xfrm>
            <a:off x="762000" y="5791200"/>
            <a:ext cx="1047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F9E64"/>
                </a:solidFill>
                <a:latin typeface="Segoe UI"/>
                <a:ea typeface="Segoe UI"/>
              </a:rPr>
              <a:t>El informe de aceptación del toolkit queda BLOQUEADO hasta contar con una VM Linux.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F43FB83A-7E47-45F9-A6EC-173BA0D36790}"/>
              </a:ext>
            </a:extLst>
          </p:cNvPr>
          <p:cNvSpPr/>
          <p:nvPr/>
        </p:nvSpPr>
        <p:spPr>
          <a:xfrm>
            <a:off x="762000" y="6191250"/>
            <a:ext cx="106680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2F94C8E-D26A-452D-BD2F-332D0CB1F662}"/>
              </a:ext>
            </a:extLst>
          </p:cNvPr>
          <p:cNvSpPr txBox="1"/>
          <p:nvPr/>
        </p:nvSpPr>
        <p:spPr>
          <a:xfrm>
            <a:off x="762000" y="6286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291A6"/>
                </a:solidFill>
                <a:latin typeface="Segoe UI"/>
                <a:ea typeface="Segoe UI"/>
              </a:rPr>
              <a:t>M1  ·  16:30 – 18:00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92C40F8-770C-4B17-9C6B-20922AEEB5C5}"/>
              </a:ext>
            </a:extLst>
          </p:cNvPr>
          <p:cNvSpPr txBox="1"/>
          <p:nvPr/>
        </p:nvSpPr>
        <p:spPr>
          <a:xfrm>
            <a:off x="10668000" y="6286500"/>
            <a:ext cx="762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ED849D9-4D6C-4198-BE5E-710D3507448C}"/>
              </a:ext>
            </a:extLst>
          </p:cNvPr>
          <p:cNvSpPr txBox="1"/>
          <p:nvPr/>
        </p:nvSpPr>
        <p:spPr>
          <a:xfrm>
            <a:off x="762000" y="55245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C9F04D"/>
                </a:solidFill>
                <a:latin typeface="Segoe UI"/>
                <a:ea typeface="Segoe UI"/>
              </a:rPr>
              <a:t>11  ·  CIERRE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EC799A-DB8B-47E3-B169-7566AFD371F9}"/>
              </a:ext>
            </a:extLst>
          </p:cNvPr>
          <p:cNvSpPr txBox="1"/>
          <p:nvPr/>
        </p:nvSpPr>
        <p:spPr>
          <a:xfrm>
            <a:off x="9906000" y="552450"/>
            <a:ext cx="1524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ASCEND / SGDM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BF817C5-88EB-4E3A-A6BC-CC1E97B4C12D}"/>
              </a:ext>
            </a:extLst>
          </p:cNvPr>
          <p:cNvSpPr txBox="1"/>
          <p:nvPr/>
        </p:nvSpPr>
        <p:spPr>
          <a:xfrm>
            <a:off x="723900" y="1333500"/>
            <a:ext cx="8572500" cy="1428750"/>
          </a:xfrm>
        </p:spPr>
        <p:txBody>
          <a:bodyPr wrap="square" rtlCol="0" lIns="0" tIns="0" rIns="0" bIns="0" anchor="t"/>
          <a:lstStyle/>
          <a:p>
            <a:pPr algn="l"/>
            <a:r>
              <a:rPr sz="8600" b="1">
                <a:solidFill>
                  <a:srgbClr val="F2F5F9"/>
                </a:solidFill>
                <a:latin typeface="Segoe UI"/>
                <a:ea typeface="Segoe UI"/>
              </a:rPr>
              <a:t>Gracias.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6ADB3C-92DA-437E-B9F6-E1A94F916D4B}"/>
              </a:ext>
            </a:extLst>
          </p:cNvPr>
          <p:cNvSpPr txBox="1"/>
          <p:nvPr/>
        </p:nvSpPr>
        <p:spPr>
          <a:xfrm>
            <a:off x="762000" y="2857500"/>
            <a:ext cx="85725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C9F04D"/>
                </a:solidFill>
                <a:latin typeface="Segoe UI"/>
                <a:ea typeface="Segoe UI"/>
              </a:rPr>
              <a:t>Preguntas del jurado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7503EA0-008D-4FE8-B6A8-ACD987AF7695}"/>
              </a:ext>
            </a:extLst>
          </p:cNvPr>
          <p:cNvSpPr txBox="1"/>
          <p:nvPr/>
        </p:nvSpPr>
        <p:spPr>
          <a:xfrm>
            <a:off x="762000" y="3543300"/>
            <a:ext cx="9334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2200" i="1">
                <a:solidFill>
                  <a:srgbClr val="A9B6C8"/>
                </a:solidFill>
                <a:latin typeface="Segoe UI"/>
                <a:ea typeface="Segoe UI"/>
              </a:rPr>
              <a:t>Un torneo se gana en la cancha;</a:t>
            </a:r>
            <a:br/>
            <a:r>
              <a:rPr sz="2200" i="1">
                <a:solidFill>
                  <a:srgbClr val="A9B6C8"/>
                </a:solidFill>
                <a:latin typeface="Segoe UI"/>
                <a:ea typeface="Segoe UI"/>
              </a:rPr>
              <a:t>un sistema se sostiene en la operación.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CD93D6A-F879-4288-A3D4-3343F1EA30BE}"/>
              </a:ext>
            </a:extLst>
          </p:cNvPr>
          <p:cNvSpPr/>
          <p:nvPr/>
        </p:nvSpPr>
        <p:spPr>
          <a:xfrm>
            <a:off x="762000" y="4762500"/>
            <a:ext cx="5905500" cy="9525"/>
          </a:xfrm>
          <a:prstGeom prst="rect">
            <a:avLst/>
          </a:prstGeom>
          <a:solidFill>
            <a:srgbClr val="2A395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58398C9-CDEA-4411-B982-15537490249A}"/>
              </a:ext>
            </a:extLst>
          </p:cNvPr>
          <p:cNvSpPr txBox="1"/>
          <p:nvPr/>
        </p:nvSpPr>
        <p:spPr>
          <a:xfrm>
            <a:off x="762000" y="4991100"/>
            <a:ext cx="666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2F5F9"/>
                </a:solidFill>
                <a:latin typeface="Segoe UI"/>
                <a:ea typeface="Segoe UI"/>
              </a:rPr>
              <a:t>Equipo ASCEND · 4 integrantes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51725F0-BD1A-409D-9D33-81181004972D}"/>
              </a:ext>
            </a:extLst>
          </p:cNvPr>
          <p:cNvSpPr txBox="1"/>
          <p:nvPr/>
        </p:nvSpPr>
        <p:spPr>
          <a:xfrm>
            <a:off x="762000" y="5295900"/>
            <a:ext cx="7620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291A6"/>
                </a:solidFill>
                <a:latin typeface="Segoe UI"/>
                <a:ea typeface="Segoe UI"/>
              </a:rPr>
              <a:t>Producto · Full stack · Datos · Seguridad y sistemas operativos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E8D593-3EE0-40F1-9C84-C9462F13CACC}"/>
              </a:ext>
            </a:extLst>
          </p:cNvPr>
          <p:cNvSpPr txBox="1"/>
          <p:nvPr/>
        </p:nvSpPr>
        <p:spPr>
          <a:xfrm>
            <a:off x="762000" y="59626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291A6"/>
                </a:solidFill>
                <a:latin typeface="Segoe UI"/>
                <a:ea typeface="Segoe UI"/>
              </a:rPr>
              <a:t>20:00 – 60:00  ·  Defensa y preguntas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44CEBBA-3881-4964-937A-E58B6A21EAA6}"/>
              </a:ext>
            </a:extLst>
          </p:cNvPr>
          <p:cNvSpPr txBox="1"/>
          <p:nvPr/>
        </p:nvSpPr>
        <p:spPr>
          <a:xfrm>
            <a:off x="10668000" y="5962650"/>
            <a:ext cx="7620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8291A6"/>
                </a:solidFill>
                <a:latin typeface="Segoe UI"/>
                <a:ea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